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Proxima Nova"/>
      <p:regular r:id="rId18"/>
      <p:bold r:id="rId19"/>
      <p:italic r:id="rId20"/>
      <p:boldItalic r:id="rId21"/>
    </p:embeddedFont>
    <p:embeddedFont>
      <p:font typeface="Alfa Slab One"/>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italic.fntdata"/><Relationship Id="rId11" Type="http://schemas.openxmlformats.org/officeDocument/2006/relationships/slide" Target="slides/slide6.xml"/><Relationship Id="rId22" Type="http://schemas.openxmlformats.org/officeDocument/2006/relationships/font" Target="fonts/AlfaSlabOne-regular.fntdata"/><Relationship Id="rId10" Type="http://schemas.openxmlformats.org/officeDocument/2006/relationships/slide" Target="slides/slide5.xml"/><Relationship Id="rId21" Type="http://schemas.openxmlformats.org/officeDocument/2006/relationships/font" Target="fonts/ProximaNova-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roximaNova-bold.fntdata"/><Relationship Id="rId6" Type="http://schemas.openxmlformats.org/officeDocument/2006/relationships/slide" Target="slides/slide1.xml"/><Relationship Id="rId18" Type="http://schemas.openxmlformats.org/officeDocument/2006/relationships/font" Target="fonts/ProximaNova-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0963c851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0963c851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0963c851c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0963c851c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0963c851c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0963c851c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0963c851c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0963c851c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0963c851c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0963c851c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0963c851c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0963c851c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963c851c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963c851c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0963c851c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0963c851c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0963c851c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0963c851c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0963c851c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0963c851c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0963c851c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0963c851c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tr.wikipedia.org/wiki/Uluslararas%C4%B1_Masa_Tenisi_Federasyonu" TargetMode="External"/><Relationship Id="rId4" Type="http://schemas.openxmlformats.org/officeDocument/2006/relationships/hyperlink" Target="https://tr.wikipedia.org/wiki/Londra" TargetMode="External"/><Relationship Id="rId5" Type="http://schemas.openxmlformats.org/officeDocument/2006/relationships/hyperlink" Target="https://tr.wikipedia.org/wiki/II._D%C3%BCnya_Sava%C5%9F%C4%B1" TargetMode="External"/><Relationship Id="rId6" Type="http://schemas.openxmlformats.org/officeDocument/2006/relationships/hyperlink" Target="https://tr.wikipedia.org/w/index.php?title=Maria_Mednyanszky&amp;action=edit&amp;redlink=1" TargetMode="External"/><Relationship Id="rId7" Type="http://schemas.openxmlformats.org/officeDocument/2006/relationships/hyperlink" Target="https://tr.wikipedia.org/w/index.php?title=Viktor_Barna&amp;action=edit&amp;redlink=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tr.wikipedia.org/w/index.php?title=Parker_Brothers&amp;action=edit&amp;redlink=1"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tr.wikipedia.org/w/index.php?title=Penholder_tutu%C5%9Fu&amp;action=edit&amp;redlink=1"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1" Type="http://schemas.openxmlformats.org/officeDocument/2006/relationships/hyperlink" Target="https://tr.wikipedia.org/w/index.php?title=Peng_Fei_Jiang&amp;action=edit&amp;redlink=1" TargetMode="External"/><Relationship Id="rId10" Type="http://schemas.openxmlformats.org/officeDocument/2006/relationships/hyperlink" Target="https://tr.wikipedia.org/w/index.php?title=Gen%C3%A7ay_Menge&amp;action=edit&amp;redlink=1" TargetMode="External"/><Relationship Id="rId13" Type="http://schemas.openxmlformats.org/officeDocument/2006/relationships/hyperlink" Target="https://tr.wikipedia.org/wiki/Fenerbah%C3%A7e_SK" TargetMode="External"/><Relationship Id="rId12" Type="http://schemas.openxmlformats.org/officeDocument/2006/relationships/hyperlink" Target="https://tr.wikipedia.org/wiki/2008_Yaz_Olimpiyatlar%C4%B1" TargetMode="External"/><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tr.wikipedia.org/wiki/Alt%C4%B1nordu_Spor_Kul%C3%BCb%C3%BC" TargetMode="External"/><Relationship Id="rId4" Type="http://schemas.openxmlformats.org/officeDocument/2006/relationships/hyperlink" Target="https://tr.wikipedia.org/wiki/Fenerbah%C3%A7e_SK" TargetMode="External"/><Relationship Id="rId9" Type="http://schemas.openxmlformats.org/officeDocument/2006/relationships/hyperlink" Target="https://tr.wikipedia.org/wiki/G%C3%BCrhan_Yald%C4%B1z" TargetMode="External"/><Relationship Id="rId14" Type="http://schemas.openxmlformats.org/officeDocument/2006/relationships/hyperlink" Target="https://tr.wikipedia.org/wiki/Melek_Hu" TargetMode="External"/><Relationship Id="rId5" Type="http://schemas.openxmlformats.org/officeDocument/2006/relationships/hyperlink" Target="https://tr.wikipedia.org/wiki/%C4%B0stanbulspor" TargetMode="External"/><Relationship Id="rId6" Type="http://schemas.openxmlformats.org/officeDocument/2006/relationships/hyperlink" Target="https://tr.wikipedia.org/w/index.php?title=Semih_Duransoy&amp;action=edit&amp;redlink=1" TargetMode="External"/><Relationship Id="rId7" Type="http://schemas.openxmlformats.org/officeDocument/2006/relationships/hyperlink" Target="https://tr.wikipedia.org/wiki/Ali_Abal%C4%B1" TargetMode="External"/><Relationship Id="rId8" Type="http://schemas.openxmlformats.org/officeDocument/2006/relationships/hyperlink" Target="https://tr.wikipedia.org/w/index.php?title=Oktay_%C3%87imen&amp;action=edit&amp;redlink=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tr.wikipedia.org/wiki/Le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youtu.be/STtx5IV1k7k" TargetMode="External"/><Relationship Id="rId4" Type="http://schemas.openxmlformats.org/officeDocument/2006/relationships/hyperlink" Target="https://youtu.be/RaN67O77hD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tr"/>
              <a:t>Masa Tenisi</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Federasyon Kurulması</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500"/>
              </a:spcBef>
              <a:spcAft>
                <a:spcPts val="0"/>
              </a:spcAft>
              <a:buClr>
                <a:schemeClr val="dk1"/>
              </a:buClr>
              <a:buSzPts val="1100"/>
              <a:buFont typeface="Arial"/>
              <a:buNone/>
            </a:pPr>
            <a:r>
              <a:rPr lang="tr" sz="1550">
                <a:solidFill>
                  <a:srgbClr val="202122"/>
                </a:solidFill>
                <a:highlight>
                  <a:srgbClr val="FFFFFF"/>
                </a:highlight>
              </a:rPr>
              <a:t>Üreticilerin genel bir ismi olan </a:t>
            </a:r>
            <a:r>
              <a:rPr b="1" lang="tr" sz="1550">
                <a:solidFill>
                  <a:srgbClr val="202122"/>
                </a:solidFill>
                <a:highlight>
                  <a:srgbClr val="FFFFFF"/>
                </a:highlight>
              </a:rPr>
              <a:t>masa tenisi</a:t>
            </a:r>
            <a:r>
              <a:rPr lang="tr" sz="1550">
                <a:solidFill>
                  <a:srgbClr val="202122"/>
                </a:solidFill>
                <a:highlight>
                  <a:srgbClr val="FFFFFF"/>
                </a:highlight>
              </a:rPr>
              <a:t> adı altında sattıkları ekipmanlarla bu spor İngiltere ve Avrupa'da sessizce yaygınlaştı. 1921 yılında İngiltere'de yeni bir masa tenisi federasyonu kuruldu. Peşinden de 1926 yılında İngiltere, İsveç, Macaristan, Hindistan, Danimarka, Almanya, Çekoslovakya, Avusturya ve Galler'in Berlin'de yaptıkları toplantıda </a:t>
            </a:r>
            <a:r>
              <a:rPr lang="tr" sz="1550">
                <a:solidFill>
                  <a:srgbClr val="0645AD"/>
                </a:solidFill>
                <a:highlight>
                  <a:srgbClr val="FFFFFF"/>
                </a:highlight>
                <a:uFill>
                  <a:noFill/>
                </a:uFill>
                <a:hlinkClick r:id="rId3">
                  <a:extLst>
                    <a:ext uri="{A12FA001-AC4F-418D-AE19-62706E023703}">
                      <ahyp:hlinkClr val="tx"/>
                    </a:ext>
                  </a:extLst>
                </a:hlinkClick>
              </a:rPr>
              <a:t>Uluslararası Masa Tenisi Federasyonu</a:t>
            </a:r>
            <a:r>
              <a:rPr lang="tr" sz="1550">
                <a:solidFill>
                  <a:srgbClr val="202122"/>
                </a:solidFill>
                <a:highlight>
                  <a:srgbClr val="FFFFFF"/>
                </a:highlight>
              </a:rPr>
              <a:t> kuruldu.</a:t>
            </a:r>
            <a:endParaRPr sz="1550">
              <a:solidFill>
                <a:srgbClr val="202122"/>
              </a:solidFill>
              <a:highlight>
                <a:srgbClr val="FFFFFF"/>
              </a:highlight>
            </a:endParaRPr>
          </a:p>
          <a:p>
            <a:pPr indent="0" lvl="0" marL="0" rtl="0" algn="l">
              <a:spcBef>
                <a:spcPts val="500"/>
              </a:spcBef>
              <a:spcAft>
                <a:spcPts val="0"/>
              </a:spcAft>
              <a:buNone/>
            </a:pPr>
            <a:r>
              <a:rPr lang="tr" sz="1550">
                <a:solidFill>
                  <a:srgbClr val="202122"/>
                </a:solidFill>
                <a:highlight>
                  <a:srgbClr val="FFFFFF"/>
                </a:highlight>
              </a:rPr>
              <a:t>İlk dünya şampiyonası 1926 yılında </a:t>
            </a:r>
            <a:r>
              <a:rPr lang="tr" sz="1550">
                <a:solidFill>
                  <a:srgbClr val="0645AD"/>
                </a:solidFill>
                <a:highlight>
                  <a:srgbClr val="FFFFFF"/>
                </a:highlight>
                <a:uFill>
                  <a:noFill/>
                </a:uFill>
                <a:hlinkClick r:id="rId4">
                  <a:extLst>
                    <a:ext uri="{A12FA001-AC4F-418D-AE19-62706E023703}">
                      <ahyp:hlinkClr val="tx"/>
                    </a:ext>
                  </a:extLst>
                </a:hlinkClick>
              </a:rPr>
              <a:t>Londra</a:t>
            </a:r>
            <a:r>
              <a:rPr lang="tr" sz="1550">
                <a:solidFill>
                  <a:srgbClr val="202122"/>
                </a:solidFill>
                <a:highlight>
                  <a:srgbClr val="FFFFFF"/>
                </a:highlight>
              </a:rPr>
              <a:t>'da yapıldı. Bu yıldan </a:t>
            </a:r>
            <a:r>
              <a:rPr lang="tr" sz="1550">
                <a:solidFill>
                  <a:srgbClr val="0645AD"/>
                </a:solidFill>
                <a:highlight>
                  <a:srgbClr val="FFFFFF"/>
                </a:highlight>
                <a:uFill>
                  <a:noFill/>
                </a:uFill>
                <a:hlinkClick r:id="rId5">
                  <a:extLst>
                    <a:ext uri="{A12FA001-AC4F-418D-AE19-62706E023703}">
                      <ahyp:hlinkClr val="tx"/>
                    </a:ext>
                  </a:extLst>
                </a:hlinkClick>
              </a:rPr>
              <a:t>II. Dünya Savaşı</a:t>
            </a:r>
            <a:r>
              <a:rPr lang="tr" sz="1550">
                <a:solidFill>
                  <a:srgbClr val="202122"/>
                </a:solidFill>
                <a:highlight>
                  <a:srgbClr val="FFFFFF"/>
                </a:highlight>
              </a:rPr>
              <a:t>'na kadar tüm şampiyonalar Macaristan'ın egemenliği altında geçti. Bu zamanların en iyi oyuncuları bayanlarda yedi dünya şampiyonası kazanan Macar </a:t>
            </a:r>
            <a:r>
              <a:rPr lang="tr" sz="1550">
                <a:solidFill>
                  <a:srgbClr val="DD3333"/>
                </a:solidFill>
                <a:highlight>
                  <a:srgbClr val="FFFFFF"/>
                </a:highlight>
                <a:uFill>
                  <a:noFill/>
                </a:uFill>
                <a:hlinkClick r:id="rId6">
                  <a:extLst>
                    <a:ext uri="{A12FA001-AC4F-418D-AE19-62706E023703}">
                      <ahyp:hlinkClr val="tx"/>
                    </a:ext>
                  </a:extLst>
                </a:hlinkClick>
              </a:rPr>
              <a:t>Maria Mednyanszky</a:t>
            </a:r>
            <a:r>
              <a:rPr lang="tr" sz="1550">
                <a:solidFill>
                  <a:srgbClr val="202122"/>
                </a:solidFill>
                <a:highlight>
                  <a:srgbClr val="FFFFFF"/>
                </a:highlight>
              </a:rPr>
              <a:t> ve beş defa dünya şampiyonu olan yine Macar </a:t>
            </a:r>
            <a:r>
              <a:rPr lang="tr" sz="1550">
                <a:solidFill>
                  <a:srgbClr val="DD3333"/>
                </a:solidFill>
                <a:highlight>
                  <a:srgbClr val="FFFFFF"/>
                </a:highlight>
                <a:uFill>
                  <a:noFill/>
                </a:uFill>
                <a:hlinkClick r:id="rId7">
                  <a:extLst>
                    <a:ext uri="{A12FA001-AC4F-418D-AE19-62706E023703}">
                      <ahyp:hlinkClr val="tx"/>
                    </a:ext>
                  </a:extLst>
                </a:hlinkClick>
              </a:rPr>
              <a:t>Viktor Barna</a:t>
            </a:r>
            <a:r>
              <a:rPr lang="tr" sz="1550">
                <a:solidFill>
                  <a:srgbClr val="202122"/>
                </a:solidFill>
                <a:highlight>
                  <a:srgbClr val="FFFFFF"/>
                </a:highlight>
              </a:rPr>
              <a:t>'ydı. Çekoslovakya ve Romanya'lı sporcular da bazı şampiyonaları kazandılar.</a:t>
            </a:r>
            <a:endParaRPr sz="1550">
              <a:solidFill>
                <a:srgbClr val="202122"/>
              </a:solidFill>
              <a:highlight>
                <a:srgbClr val="FFFFFF"/>
              </a:highlight>
            </a:endParaRPr>
          </a:p>
          <a:p>
            <a:pPr indent="0" lvl="0" marL="0" rtl="0" algn="l">
              <a:spcBef>
                <a:spcPts val="5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Amerika’da Masa Tenisi</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sz="1850">
                <a:solidFill>
                  <a:srgbClr val="202122"/>
                </a:solidFill>
                <a:highlight>
                  <a:srgbClr val="FFFFFF"/>
                </a:highlight>
              </a:rPr>
              <a:t>Amerika Ping Pong Federasyonu 1930 yılında kuruldu fakat sadece </a:t>
            </a:r>
            <a:r>
              <a:rPr lang="tr" sz="1850">
                <a:solidFill>
                  <a:srgbClr val="DD3333"/>
                </a:solidFill>
                <a:highlight>
                  <a:srgbClr val="FFFFFF"/>
                </a:highlight>
                <a:uFill>
                  <a:noFill/>
                </a:uFill>
                <a:hlinkClick r:id="rId3">
                  <a:extLst>
                    <a:ext uri="{A12FA001-AC4F-418D-AE19-62706E023703}">
                      <ahyp:hlinkClr val="tx"/>
                    </a:ext>
                  </a:extLst>
                </a:hlinkClick>
              </a:rPr>
              <a:t>Parker Brothers</a:t>
            </a:r>
            <a:r>
              <a:rPr lang="tr" sz="1850">
                <a:solidFill>
                  <a:srgbClr val="202122"/>
                </a:solidFill>
                <a:highlight>
                  <a:srgbClr val="FFFFFF"/>
                </a:highlight>
              </a:rPr>
              <a:t> firmasının ekipmanları kullanılabildiği için üye sayısı fazla olamadı. 1933 yılında iki rakip federasyon daha kuruldu. Bunlar ABD Amatör Masa Tenisi Federasyonu ve ABD Ulusal Masa Tenisi Federasyonuydu. Bu üç grup 1935 yılında birleşerek ABD Masa Tenisi Federasyonu adını aldı. 1994 yılında da adını U.S.A. Table Tennis olarak değiştirdi.</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Asya’da Masa Tenisi</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500"/>
              </a:spcBef>
              <a:spcAft>
                <a:spcPts val="0"/>
              </a:spcAft>
              <a:buClr>
                <a:schemeClr val="dk1"/>
              </a:buClr>
              <a:buSzPts val="1100"/>
              <a:buFont typeface="Arial"/>
              <a:buNone/>
            </a:pPr>
            <a:r>
              <a:rPr lang="tr" sz="1650">
                <a:solidFill>
                  <a:srgbClr val="202122"/>
                </a:solidFill>
                <a:highlight>
                  <a:srgbClr val="FFFFFF"/>
                </a:highlight>
              </a:rPr>
              <a:t>İkinci dünya savaşından sonra bir süre daha orta Avrupalı oyuncuların egemenlikleri sürdü. 1953 yılından itibaren Asyalı oyuncuların egemenliği başladı. Asyalı yıldız oyuncuların aniden ortaya çıkmalarının bir sebebi Japon Horoi Satoh'ın 1952 yılında ilk defa kullandığı süngerli lastiklerin kullanılmaya başlamasıdır. Bu yeni malzeme oyunu hızlandırdı ve oyuncuların topa daha fazla falso vermelerine imkân sağladı.</a:t>
            </a:r>
            <a:endParaRPr sz="1650">
              <a:solidFill>
                <a:srgbClr val="202122"/>
              </a:solidFill>
              <a:highlight>
                <a:srgbClr val="FFFFFF"/>
              </a:highlight>
            </a:endParaRPr>
          </a:p>
          <a:p>
            <a:pPr indent="0" lvl="0" marL="0" rtl="0" algn="l">
              <a:spcBef>
                <a:spcPts val="500"/>
              </a:spcBef>
              <a:spcAft>
                <a:spcPts val="0"/>
              </a:spcAft>
              <a:buClr>
                <a:schemeClr val="dk1"/>
              </a:buClr>
              <a:buSzPts val="1100"/>
              <a:buFont typeface="Arial"/>
              <a:buNone/>
            </a:pPr>
            <a:r>
              <a:rPr lang="tr" sz="1650">
                <a:solidFill>
                  <a:srgbClr val="202122"/>
                </a:solidFill>
                <a:highlight>
                  <a:srgbClr val="FFFFFF"/>
                </a:highlight>
              </a:rPr>
              <a:t>Asyalı oyuncular "</a:t>
            </a:r>
            <a:r>
              <a:rPr lang="tr" sz="1650">
                <a:solidFill>
                  <a:srgbClr val="DD3333"/>
                </a:solidFill>
                <a:highlight>
                  <a:srgbClr val="FFFFFF"/>
                </a:highlight>
                <a:uFill>
                  <a:noFill/>
                </a:uFill>
                <a:hlinkClick r:id="rId3">
                  <a:extLst>
                    <a:ext uri="{A12FA001-AC4F-418D-AE19-62706E023703}">
                      <ahyp:hlinkClr val="tx"/>
                    </a:ext>
                  </a:extLst>
                </a:hlinkClick>
              </a:rPr>
              <a:t>Penholder tutuşu</a:t>
            </a:r>
            <a:r>
              <a:rPr lang="tr" sz="1650">
                <a:solidFill>
                  <a:srgbClr val="202122"/>
                </a:solidFill>
                <a:highlight>
                  <a:srgbClr val="FFFFFF"/>
                </a:highlight>
              </a:rPr>
              <a:t>" adı verilen ve raket sapının başparmak ile işaret parmağı arasında tutulduğu bir tutuş şekli geliştirdiler. Bu tutuş şeklinde her tür vuruş için raketin aynı yüzünü kullanıyordu. Bu tutuş bugün birçok üst seviye uluslararası oyuncu tarafından kullanılmaktadır.</a:t>
            </a:r>
            <a:endParaRPr sz="1650">
              <a:solidFill>
                <a:srgbClr val="202122"/>
              </a:solidFill>
              <a:highlight>
                <a:srgbClr val="FFFFFF"/>
              </a:highlight>
            </a:endParaRPr>
          </a:p>
          <a:p>
            <a:pPr indent="0" lvl="0" marL="0" rtl="0" algn="l">
              <a:spcBef>
                <a:spcPts val="500"/>
              </a:spcBef>
              <a:spcAft>
                <a:spcPts val="1200"/>
              </a:spcAft>
              <a:buNone/>
            </a:pPr>
            <a:r>
              <a:t/>
            </a:r>
            <a:endParaRPr/>
          </a:p>
        </p:txBody>
      </p:sp>
      <p:pic>
        <p:nvPicPr>
          <p:cNvPr id="76" name="Google Shape;76;p16"/>
          <p:cNvPicPr preferRelativeResize="0"/>
          <p:nvPr/>
        </p:nvPicPr>
        <p:blipFill>
          <a:blip r:embed="rId4">
            <a:alphaModFix/>
          </a:blip>
          <a:stretch>
            <a:fillRect/>
          </a:stretch>
        </p:blipFill>
        <p:spPr>
          <a:xfrm>
            <a:off x="6116600" y="3670675"/>
            <a:ext cx="1905000" cy="1276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Türkiye’de Masa Tenisi</a:t>
            </a:r>
            <a:endParaRPr/>
          </a:p>
        </p:txBody>
      </p:sp>
      <p:sp>
        <p:nvSpPr>
          <p:cNvPr id="82" name="Google Shape;82;p17"/>
          <p:cNvSpPr txBox="1"/>
          <p:nvPr>
            <p:ph idx="1" type="body"/>
          </p:nvPr>
        </p:nvSpPr>
        <p:spPr>
          <a:xfrm>
            <a:off x="311700" y="1152475"/>
            <a:ext cx="8520600" cy="3434700"/>
          </a:xfrm>
          <a:prstGeom prst="rect">
            <a:avLst/>
          </a:prstGeom>
        </p:spPr>
        <p:txBody>
          <a:bodyPr anchorCtr="0" anchor="t" bIns="91425" lIns="91425" spcFirstLastPara="1" rIns="91425" wrap="square" tIns="91425">
            <a:noAutofit/>
          </a:bodyPr>
          <a:lstStyle/>
          <a:p>
            <a:pPr indent="0" lvl="0" marL="0" rtl="0" algn="l">
              <a:lnSpc>
                <a:spcPct val="95000"/>
              </a:lnSpc>
              <a:spcBef>
                <a:spcPts val="500"/>
              </a:spcBef>
              <a:spcAft>
                <a:spcPts val="0"/>
              </a:spcAft>
              <a:buClr>
                <a:schemeClr val="dk1"/>
              </a:buClr>
              <a:buSzPts val="1100"/>
              <a:buFont typeface="Arial"/>
              <a:buNone/>
            </a:pPr>
            <a:r>
              <a:rPr lang="tr" sz="1150">
                <a:solidFill>
                  <a:srgbClr val="202122"/>
                </a:solidFill>
                <a:highlight>
                  <a:srgbClr val="FFFFFF"/>
                </a:highlight>
              </a:rPr>
              <a:t>Türkiye'de masa tenisinin ilk olarak 1920'lerden sonra Robert Koleji'nde oynanmaya başladığı bilinmektedir. Daha sonra bu spor başta İstanbul olmak üzere tüm yurtta yayılmaya başlamıştır. Hatta İstanbul'da </a:t>
            </a:r>
            <a:r>
              <a:rPr lang="tr" sz="1150">
                <a:solidFill>
                  <a:srgbClr val="0645AD"/>
                </a:solidFill>
                <a:highlight>
                  <a:srgbClr val="FFFFFF"/>
                </a:highlight>
                <a:uFill>
                  <a:noFill/>
                </a:uFill>
                <a:hlinkClick r:id="rId3">
                  <a:extLst>
                    <a:ext uri="{A12FA001-AC4F-418D-AE19-62706E023703}">
                      <ahyp:hlinkClr val="tx"/>
                    </a:ext>
                  </a:extLst>
                </a:hlinkClick>
              </a:rPr>
              <a:t>Altınordu Spor Kulübü</a:t>
            </a:r>
            <a:r>
              <a:rPr lang="tr" sz="1150">
                <a:solidFill>
                  <a:srgbClr val="202122"/>
                </a:solidFill>
                <a:highlight>
                  <a:srgbClr val="FFFFFF"/>
                </a:highlight>
              </a:rPr>
              <a:t>'nde ilk turnuva düzenlenmiştir. 1930 yılında ilk İstanbul Şampiyonası düzenlenmiş ve </a:t>
            </a:r>
            <a:r>
              <a:rPr lang="tr" sz="1150">
                <a:solidFill>
                  <a:srgbClr val="0645AD"/>
                </a:solidFill>
                <a:highlight>
                  <a:srgbClr val="FFFFFF"/>
                </a:highlight>
                <a:uFill>
                  <a:noFill/>
                </a:uFill>
                <a:hlinkClick r:id="rId4">
                  <a:extLst>
                    <a:ext uri="{A12FA001-AC4F-418D-AE19-62706E023703}">
                      <ahyp:hlinkClr val="tx"/>
                    </a:ext>
                  </a:extLst>
                </a:hlinkClick>
              </a:rPr>
              <a:t>Fenerbahçe Spor Kulübü</a:t>
            </a:r>
            <a:r>
              <a:rPr lang="tr" sz="1150">
                <a:solidFill>
                  <a:srgbClr val="202122"/>
                </a:solidFill>
                <a:highlight>
                  <a:srgbClr val="FFFFFF"/>
                </a:highlight>
              </a:rPr>
              <a:t>'nden aynı zamanda yüzücü ve boksör olan Raşit Bey </a:t>
            </a:r>
            <a:r>
              <a:rPr lang="tr" sz="1150">
                <a:solidFill>
                  <a:srgbClr val="0645AD"/>
                </a:solidFill>
                <a:highlight>
                  <a:srgbClr val="FFFFFF"/>
                </a:highlight>
                <a:uFill>
                  <a:noFill/>
                </a:uFill>
                <a:hlinkClick r:id="rId5">
                  <a:extLst>
                    <a:ext uri="{A12FA001-AC4F-418D-AE19-62706E023703}">
                      <ahyp:hlinkClr val="tx"/>
                    </a:ext>
                  </a:extLst>
                </a:hlinkClick>
              </a:rPr>
              <a:t>İstanbulsporlu</a:t>
            </a:r>
            <a:r>
              <a:rPr lang="tr" sz="1150">
                <a:solidFill>
                  <a:srgbClr val="202122"/>
                </a:solidFill>
                <a:highlight>
                  <a:srgbClr val="FFFFFF"/>
                </a:highlight>
              </a:rPr>
              <a:t> rakibi </a:t>
            </a:r>
            <a:r>
              <a:rPr lang="tr" sz="1150">
                <a:solidFill>
                  <a:srgbClr val="DD3333"/>
                </a:solidFill>
                <a:highlight>
                  <a:srgbClr val="FFFFFF"/>
                </a:highlight>
                <a:uFill>
                  <a:noFill/>
                </a:uFill>
                <a:hlinkClick r:id="rId6">
                  <a:extLst>
                    <a:ext uri="{A12FA001-AC4F-418D-AE19-62706E023703}">
                      <ahyp:hlinkClr val="tx"/>
                    </a:ext>
                  </a:extLst>
                </a:hlinkClick>
              </a:rPr>
              <a:t>Semih Duransoy</a:t>
            </a:r>
            <a:r>
              <a:rPr lang="tr" sz="1150">
                <a:solidFill>
                  <a:srgbClr val="202122"/>
                </a:solidFill>
                <a:highlight>
                  <a:srgbClr val="FFFFFF"/>
                </a:highlight>
              </a:rPr>
              <a:t>'u yenerek sarı-lacivertli kulübü bu dalda ilk şampiyon unvanını kazandırmıştır.</a:t>
            </a:r>
            <a:endParaRPr sz="1150">
              <a:solidFill>
                <a:srgbClr val="202122"/>
              </a:solidFill>
              <a:highlight>
                <a:srgbClr val="FFFFFF"/>
              </a:highlight>
            </a:endParaRPr>
          </a:p>
          <a:p>
            <a:pPr indent="0" lvl="0" marL="0" rtl="0" algn="l">
              <a:lnSpc>
                <a:spcPct val="95000"/>
              </a:lnSpc>
              <a:spcBef>
                <a:spcPts val="500"/>
              </a:spcBef>
              <a:spcAft>
                <a:spcPts val="0"/>
              </a:spcAft>
              <a:buClr>
                <a:schemeClr val="dk1"/>
              </a:buClr>
              <a:buSzPts val="1100"/>
              <a:buFont typeface="Arial"/>
              <a:buNone/>
            </a:pPr>
            <a:r>
              <a:rPr lang="tr" sz="1150">
                <a:solidFill>
                  <a:srgbClr val="202122"/>
                </a:solidFill>
                <a:highlight>
                  <a:srgbClr val="FFFFFF"/>
                </a:highlight>
              </a:rPr>
              <a:t>1950-61 yılları arasında özellikle İstanbul, İzmir ve Ankarada masa tenisi faaliyetleri olanca hızı ile devam etmiş ve ilki 1957 ikincisi 1960 yıllarında olmak üzere bu üç bölge sporcularının katılımıyla, o zamanlar bağlı olduğu tenis federasyonu tarafından organize edilen, iki Türkiye şampiyonası yapılmıştır.Birincisinde Beyoğluspor kulübünden Anastas Nikolau tek erkeklerde birinciliği elde etmiştir.1966 yılında masa tenisi federasyonunun kurulması ile Masa Tenisi daha organize hale gelmiştir.</a:t>
            </a:r>
            <a:endParaRPr sz="1150">
              <a:solidFill>
                <a:srgbClr val="202122"/>
              </a:solidFill>
              <a:highlight>
                <a:srgbClr val="FFFFFF"/>
              </a:highlight>
            </a:endParaRPr>
          </a:p>
          <a:p>
            <a:pPr indent="0" lvl="0" marL="0" rtl="0" algn="l">
              <a:lnSpc>
                <a:spcPct val="95000"/>
              </a:lnSpc>
              <a:spcBef>
                <a:spcPts val="500"/>
              </a:spcBef>
              <a:spcAft>
                <a:spcPts val="0"/>
              </a:spcAft>
              <a:buClr>
                <a:schemeClr val="dk1"/>
              </a:buClr>
              <a:buSzPts val="1100"/>
              <a:buFont typeface="Arial"/>
              <a:buNone/>
            </a:pPr>
            <a:r>
              <a:rPr lang="tr" sz="1150">
                <a:solidFill>
                  <a:srgbClr val="202122"/>
                </a:solidFill>
                <a:highlight>
                  <a:srgbClr val="FFFFFF"/>
                </a:highlight>
              </a:rPr>
              <a:t>1948-70 yılları arasında Fenerbahçe ve Beyoğluspor'un üstünlüğünde geçen yıllar, 1970'lerde Çinli masa tenisi ustaları getiren Eczacıbaşı da rekabete dahil olmuştur. 1983 yılında Türkiye Ligi müsabakalarının başlamasıyla bu daldaki rekabet daha renkli bir hal almıştır.</a:t>
            </a:r>
            <a:endParaRPr sz="1150">
              <a:solidFill>
                <a:srgbClr val="202122"/>
              </a:solidFill>
              <a:highlight>
                <a:srgbClr val="FFFFFF"/>
              </a:highlight>
            </a:endParaRPr>
          </a:p>
          <a:p>
            <a:pPr indent="0" lvl="0" marL="0" rtl="0" algn="l">
              <a:lnSpc>
                <a:spcPct val="95000"/>
              </a:lnSpc>
              <a:spcBef>
                <a:spcPts val="500"/>
              </a:spcBef>
              <a:spcAft>
                <a:spcPts val="0"/>
              </a:spcAft>
              <a:buClr>
                <a:schemeClr val="dk1"/>
              </a:buClr>
              <a:buSzPts val="1100"/>
              <a:buFont typeface="Arial"/>
              <a:buNone/>
            </a:pPr>
            <a:r>
              <a:rPr lang="tr" sz="1150">
                <a:solidFill>
                  <a:srgbClr val="202122"/>
                </a:solidFill>
                <a:highlight>
                  <a:srgbClr val="FFFFFF"/>
                </a:highlight>
              </a:rPr>
              <a:t>İlk Federasyon Başkanı gazeteci </a:t>
            </a:r>
            <a:r>
              <a:rPr lang="tr" sz="1150">
                <a:solidFill>
                  <a:srgbClr val="0645AD"/>
                </a:solidFill>
                <a:highlight>
                  <a:srgbClr val="FFFFFF"/>
                </a:highlight>
                <a:uFill>
                  <a:noFill/>
                </a:uFill>
                <a:hlinkClick r:id="rId7">
                  <a:extLst>
                    <a:ext uri="{A12FA001-AC4F-418D-AE19-62706E023703}">
                      <ahyp:hlinkClr val="tx"/>
                    </a:ext>
                  </a:extLst>
                </a:hlinkClick>
              </a:rPr>
              <a:t>Ali Abalı</a:t>
            </a:r>
            <a:r>
              <a:rPr lang="tr" sz="1150">
                <a:solidFill>
                  <a:srgbClr val="202122"/>
                </a:solidFill>
                <a:highlight>
                  <a:srgbClr val="FFFFFF"/>
                </a:highlight>
              </a:rPr>
              <a:t> olmuştur. Geçmişten bugüne kadar gelen Vasil Aleksandridis (1976' da Türkiye' ye Akdeniz Oyunlari Sampiyonlugunu getirdi), Fanis Aleksandridis, </a:t>
            </a:r>
            <a:r>
              <a:rPr lang="tr" sz="1150">
                <a:solidFill>
                  <a:srgbClr val="DD3333"/>
                </a:solidFill>
                <a:highlight>
                  <a:srgbClr val="FFFFFF"/>
                </a:highlight>
                <a:uFill>
                  <a:noFill/>
                </a:uFill>
                <a:hlinkClick r:id="rId8">
                  <a:extLst>
                    <a:ext uri="{A12FA001-AC4F-418D-AE19-62706E023703}">
                      <ahyp:hlinkClr val="tx"/>
                    </a:ext>
                  </a:extLst>
                </a:hlinkClick>
              </a:rPr>
              <a:t>Oktay Çimen</a:t>
            </a:r>
            <a:r>
              <a:rPr lang="tr" sz="1150">
                <a:solidFill>
                  <a:srgbClr val="202122"/>
                </a:solidFill>
                <a:highlight>
                  <a:srgbClr val="FFFFFF"/>
                </a:highlight>
              </a:rPr>
              <a:t>, Davit Kumru, Kadriye Poyrazoglu, </a:t>
            </a:r>
            <a:r>
              <a:rPr lang="tr" sz="1150">
                <a:solidFill>
                  <a:srgbClr val="0645AD"/>
                </a:solidFill>
                <a:highlight>
                  <a:srgbClr val="FFFFFF"/>
                </a:highlight>
                <a:uFill>
                  <a:noFill/>
                </a:uFill>
                <a:hlinkClick r:id="rId9">
                  <a:extLst>
                    <a:ext uri="{A12FA001-AC4F-418D-AE19-62706E023703}">
                      <ahyp:hlinkClr val="tx"/>
                    </a:ext>
                  </a:extLst>
                </a:hlinkClick>
              </a:rPr>
              <a:t>Gürhan Yaldız</a:t>
            </a:r>
            <a:r>
              <a:rPr lang="tr" sz="1150">
                <a:solidFill>
                  <a:srgbClr val="202122"/>
                </a:solidFill>
                <a:highlight>
                  <a:srgbClr val="FFFFFF"/>
                </a:highlight>
              </a:rPr>
              <a:t>, </a:t>
            </a:r>
            <a:r>
              <a:rPr lang="tr" sz="1150">
                <a:solidFill>
                  <a:srgbClr val="DD3333"/>
                </a:solidFill>
                <a:highlight>
                  <a:srgbClr val="FFFFFF"/>
                </a:highlight>
                <a:uFill>
                  <a:noFill/>
                </a:uFill>
                <a:hlinkClick r:id="rId10">
                  <a:extLst>
                    <a:ext uri="{A12FA001-AC4F-418D-AE19-62706E023703}">
                      <ahyp:hlinkClr val="tx"/>
                    </a:ext>
                  </a:extLst>
                </a:hlinkClick>
              </a:rPr>
              <a:t>Gençay Menge</a:t>
            </a:r>
            <a:r>
              <a:rPr lang="tr" sz="1150">
                <a:solidFill>
                  <a:srgbClr val="202122"/>
                </a:solidFill>
                <a:highlight>
                  <a:srgbClr val="FFFFFF"/>
                </a:highlight>
              </a:rPr>
              <a:t>, </a:t>
            </a:r>
            <a:r>
              <a:rPr lang="tr" sz="1150">
                <a:solidFill>
                  <a:srgbClr val="DD3333"/>
                </a:solidFill>
                <a:highlight>
                  <a:srgbClr val="FFFFFF"/>
                </a:highlight>
                <a:uFill>
                  <a:noFill/>
                </a:uFill>
                <a:hlinkClick r:id="rId11">
                  <a:extLst>
                    <a:ext uri="{A12FA001-AC4F-418D-AE19-62706E023703}">
                      <ahyp:hlinkClr val="tx"/>
                    </a:ext>
                  </a:extLst>
                </a:hlinkClick>
              </a:rPr>
              <a:t>Peng Fei Jiang</a:t>
            </a:r>
            <a:r>
              <a:rPr lang="tr" sz="1150">
                <a:solidFill>
                  <a:srgbClr val="202122"/>
                </a:solidFill>
                <a:highlight>
                  <a:srgbClr val="FFFFFF"/>
                </a:highlight>
              </a:rPr>
              <a:t> gibi sporcular Türk masa tenisini uluslararası müsabakalarda temsil etmiş, Türkiye'de masa tenisinin belli bir noktaya ulaştığını kanıtlamışlardır.</a:t>
            </a:r>
            <a:endParaRPr sz="1150">
              <a:solidFill>
                <a:srgbClr val="202122"/>
              </a:solidFill>
              <a:highlight>
                <a:srgbClr val="FFFFFF"/>
              </a:highlight>
            </a:endParaRPr>
          </a:p>
          <a:p>
            <a:pPr indent="0" lvl="0" marL="0" rtl="0" algn="l">
              <a:lnSpc>
                <a:spcPct val="95000"/>
              </a:lnSpc>
              <a:spcBef>
                <a:spcPts val="500"/>
              </a:spcBef>
              <a:spcAft>
                <a:spcPts val="0"/>
              </a:spcAft>
              <a:buClr>
                <a:schemeClr val="dk1"/>
              </a:buClr>
              <a:buSzPts val="1100"/>
              <a:buFont typeface="Arial"/>
              <a:buNone/>
            </a:pPr>
            <a:r>
              <a:rPr lang="tr" sz="1150">
                <a:solidFill>
                  <a:srgbClr val="0645AD"/>
                </a:solidFill>
                <a:highlight>
                  <a:srgbClr val="FFFFFF"/>
                </a:highlight>
                <a:uFill>
                  <a:noFill/>
                </a:uFill>
                <a:hlinkClick r:id="rId12">
                  <a:extLst>
                    <a:ext uri="{A12FA001-AC4F-418D-AE19-62706E023703}">
                      <ahyp:hlinkClr val="tx"/>
                    </a:ext>
                  </a:extLst>
                </a:hlinkClick>
              </a:rPr>
              <a:t>2008 Yaz Olimpiyatları</a:t>
            </a:r>
            <a:r>
              <a:rPr lang="tr" sz="1150">
                <a:solidFill>
                  <a:srgbClr val="202122"/>
                </a:solidFill>
                <a:highlight>
                  <a:srgbClr val="FFFFFF"/>
                </a:highlight>
              </a:rPr>
              <a:t>'nda Türkiye'yi masa tenisinde aynı zamanda </a:t>
            </a:r>
            <a:r>
              <a:rPr lang="tr" sz="1150">
                <a:solidFill>
                  <a:srgbClr val="0645AD"/>
                </a:solidFill>
                <a:highlight>
                  <a:srgbClr val="FFFFFF"/>
                </a:highlight>
                <a:uFill>
                  <a:noFill/>
                </a:uFill>
                <a:hlinkClick r:id="rId13">
                  <a:extLst>
                    <a:ext uri="{A12FA001-AC4F-418D-AE19-62706E023703}">
                      <ahyp:hlinkClr val="tx"/>
                    </a:ext>
                  </a:extLst>
                </a:hlinkClick>
              </a:rPr>
              <a:t>Fenerbahçe Spor Kulübü</a:t>
            </a:r>
            <a:r>
              <a:rPr lang="tr" sz="1150">
                <a:solidFill>
                  <a:srgbClr val="202122"/>
                </a:solidFill>
                <a:highlight>
                  <a:srgbClr val="FFFFFF"/>
                </a:highlight>
              </a:rPr>
              <a:t>'nde spor yapan </a:t>
            </a:r>
            <a:r>
              <a:rPr lang="tr" sz="1150">
                <a:solidFill>
                  <a:srgbClr val="0645AD"/>
                </a:solidFill>
                <a:highlight>
                  <a:srgbClr val="FFFFFF"/>
                </a:highlight>
                <a:uFill>
                  <a:noFill/>
                </a:uFill>
                <a:hlinkClick r:id="rId14">
                  <a:extLst>
                    <a:ext uri="{A12FA001-AC4F-418D-AE19-62706E023703}">
                      <ahyp:hlinkClr val="tx"/>
                    </a:ext>
                  </a:extLst>
                </a:hlinkClick>
              </a:rPr>
              <a:t>Melek Hu</a:t>
            </a:r>
            <a:r>
              <a:rPr lang="tr" sz="1150">
                <a:solidFill>
                  <a:srgbClr val="202122"/>
                </a:solidFill>
                <a:highlight>
                  <a:srgbClr val="FFFFFF"/>
                </a:highlight>
              </a:rPr>
              <a:t> bu sporda Türkiye'ye Olimpiyatlarda elde ettiği ilk galibiyeti kazandırmıştır.</a:t>
            </a:r>
            <a:endParaRPr sz="1150">
              <a:solidFill>
                <a:srgbClr val="202122"/>
              </a:solidFill>
              <a:highlight>
                <a:srgbClr val="FFFFFF"/>
              </a:highlight>
            </a:endParaRPr>
          </a:p>
          <a:p>
            <a:pPr indent="0" lvl="0" marL="0" rtl="0" algn="l">
              <a:lnSpc>
                <a:spcPct val="95000"/>
              </a:lnSpc>
              <a:spcBef>
                <a:spcPts val="500"/>
              </a:spcBef>
              <a:spcAft>
                <a:spcPts val="1200"/>
              </a:spcAft>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Terimler</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19643" lvl="0" marL="685800" rtl="0" algn="l">
              <a:spcBef>
                <a:spcPts val="600"/>
              </a:spcBef>
              <a:spcAft>
                <a:spcPts val="0"/>
              </a:spcAft>
              <a:buClr>
                <a:srgbClr val="202122"/>
              </a:buClr>
              <a:buSzPct val="100000"/>
              <a:buChar char="●"/>
            </a:pPr>
            <a:r>
              <a:rPr i="1" lang="tr" sz="1550">
                <a:solidFill>
                  <a:srgbClr val="202122"/>
                </a:solidFill>
                <a:highlight>
                  <a:srgbClr val="FFFFFF"/>
                </a:highlight>
              </a:rPr>
              <a:t>Ralli</a:t>
            </a:r>
            <a:r>
              <a:rPr lang="tr" sz="1550">
                <a:solidFill>
                  <a:srgbClr val="202122"/>
                </a:solidFill>
                <a:highlight>
                  <a:srgbClr val="FFFFFF"/>
                </a:highlight>
              </a:rPr>
              <a:t>, topun oyunda olduğu süredir.</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b="1" i="1" lang="tr" sz="1550">
                <a:solidFill>
                  <a:srgbClr val="0645AD"/>
                </a:solidFill>
                <a:highlight>
                  <a:srgbClr val="FFFFFF"/>
                </a:highlight>
                <a:uFill>
                  <a:noFill/>
                </a:uFill>
                <a:hlinkClick r:id="rId3">
                  <a:extLst>
                    <a:ext uri="{A12FA001-AC4F-418D-AE19-62706E023703}">
                      <ahyp:hlinkClr val="tx"/>
                    </a:ext>
                  </a:extLst>
                </a:hlinkClick>
              </a:rPr>
              <a:t>Let</a:t>
            </a:r>
            <a:r>
              <a:rPr lang="tr" sz="1550">
                <a:solidFill>
                  <a:srgbClr val="202122"/>
                </a:solidFill>
                <a:highlight>
                  <a:srgbClr val="FFFFFF"/>
                </a:highlight>
              </a:rPr>
              <a:t>, sonucun skora yansıtılmadığı rallidir.</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i="1" lang="tr" sz="1550">
                <a:solidFill>
                  <a:srgbClr val="202122"/>
                </a:solidFill>
                <a:highlight>
                  <a:srgbClr val="FFFFFF"/>
                </a:highlight>
              </a:rPr>
              <a:t>Sayı</a:t>
            </a:r>
            <a:r>
              <a:rPr lang="tr" sz="1550">
                <a:solidFill>
                  <a:srgbClr val="202122"/>
                </a:solidFill>
                <a:highlight>
                  <a:srgbClr val="FFFFFF"/>
                </a:highlight>
              </a:rPr>
              <a:t>, sonucun skora yansıtıldığı rallidir.</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lang="tr" sz="1550">
                <a:solidFill>
                  <a:srgbClr val="202122"/>
                </a:solidFill>
                <a:highlight>
                  <a:srgbClr val="FFFFFF"/>
                </a:highlight>
              </a:rPr>
              <a:t>Boş Top, dönmeyen top.</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i="1" lang="tr" sz="1550">
                <a:solidFill>
                  <a:srgbClr val="202122"/>
                </a:solidFill>
                <a:highlight>
                  <a:srgbClr val="FFFFFF"/>
                </a:highlight>
              </a:rPr>
              <a:t>Spin, </a:t>
            </a:r>
            <a:r>
              <a:rPr lang="tr" sz="1550">
                <a:solidFill>
                  <a:srgbClr val="202122"/>
                </a:solidFill>
                <a:highlight>
                  <a:srgbClr val="FFFFFF"/>
                </a:highlight>
              </a:rPr>
              <a:t>raketle topu yukarı doğru fırçalayarak yapılan hareket.</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lang="tr" sz="1550">
                <a:solidFill>
                  <a:srgbClr val="202122"/>
                </a:solidFill>
                <a:highlight>
                  <a:srgbClr val="FFFFFF"/>
                </a:highlight>
              </a:rPr>
              <a:t>Topspin, karşı tarafın kesik attığı topa yapılan spin hareketidir.</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lang="tr" sz="1550">
                <a:solidFill>
                  <a:srgbClr val="202122"/>
                </a:solidFill>
                <a:highlight>
                  <a:srgbClr val="FFFFFF"/>
                </a:highlight>
              </a:rPr>
              <a:t>Kesme, raketle topu aşağı doğru fırçalayarak yapılan hareket.</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lang="tr" sz="1550">
                <a:solidFill>
                  <a:srgbClr val="202122"/>
                </a:solidFill>
                <a:highlight>
                  <a:srgbClr val="FFFFFF"/>
                </a:highlight>
              </a:rPr>
              <a:t>Yan Kesik, topu soldan sağa veya sağdan sola doğru fırçalayarak yapılan hareket.</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lang="tr" sz="1550">
                <a:solidFill>
                  <a:srgbClr val="202122"/>
                </a:solidFill>
                <a:highlight>
                  <a:srgbClr val="FFFFFF"/>
                </a:highlight>
              </a:rPr>
              <a:t>Blok, topspin ve spine karşı raketin açısı kapatılarak yapılan hareket.</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lang="tr" sz="1550">
                <a:solidFill>
                  <a:srgbClr val="202122"/>
                </a:solidFill>
                <a:highlight>
                  <a:srgbClr val="FFFFFF"/>
                </a:highlight>
              </a:rPr>
              <a:t>Şut, yukarıdan gelen topa karşı yapılan ve genellikle sayı kazandıran vuruş.</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lang="tr" sz="1550">
                <a:solidFill>
                  <a:srgbClr val="202122"/>
                </a:solidFill>
                <a:highlight>
                  <a:srgbClr val="FFFFFF"/>
                </a:highlight>
              </a:rPr>
              <a:t>Lob, rakip şut atacaksa masadan uzaklaşıp topun iniş sürecinde topu (falsolu bir şekilde) masaya atmak</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lang="tr" sz="1550">
                <a:solidFill>
                  <a:srgbClr val="202122"/>
                </a:solidFill>
                <a:highlight>
                  <a:srgbClr val="FFFFFF"/>
                </a:highlight>
              </a:rPr>
              <a:t>Backhand, raketin arka tarafı.</a:t>
            </a:r>
            <a:endParaRPr sz="1550">
              <a:solidFill>
                <a:srgbClr val="202122"/>
              </a:solidFill>
              <a:highlight>
                <a:srgbClr val="FFFFFF"/>
              </a:highlight>
            </a:endParaRPr>
          </a:p>
          <a:p>
            <a:pPr indent="-319643" lvl="0" marL="685800" rtl="0" algn="l">
              <a:spcBef>
                <a:spcPts val="0"/>
              </a:spcBef>
              <a:spcAft>
                <a:spcPts val="0"/>
              </a:spcAft>
              <a:buClr>
                <a:srgbClr val="202122"/>
              </a:buClr>
              <a:buSzPct val="100000"/>
              <a:buChar char="●"/>
            </a:pPr>
            <a:r>
              <a:rPr lang="tr" sz="1550">
                <a:solidFill>
                  <a:srgbClr val="202122"/>
                </a:solidFill>
                <a:highlight>
                  <a:srgbClr val="FFFFFF"/>
                </a:highlight>
              </a:rPr>
              <a:t>Forehand, raketin ön tarafı.</a:t>
            </a:r>
            <a:endParaRPr sz="1550">
              <a:solidFill>
                <a:srgbClr val="202122"/>
              </a:solidFill>
              <a:highlight>
                <a:srgbClr val="FFFFFF"/>
              </a:highlight>
            </a:endParaRPr>
          </a:p>
          <a:p>
            <a:pPr indent="0" lvl="0" marL="0" rtl="0" algn="l">
              <a:spcBef>
                <a:spcPts val="100"/>
              </a:spcBef>
              <a:spcAft>
                <a:spcPts val="1200"/>
              </a:spcAft>
              <a:buNone/>
            </a:pPr>
            <a:r>
              <a:t/>
            </a:r>
            <a:endParaRPr sz="1050">
              <a:solidFill>
                <a:srgbClr val="202122"/>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Kurallar - Masa</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0675" lvl="0" marL="685800" rtl="0" algn="l">
              <a:spcBef>
                <a:spcPts val="600"/>
              </a:spcBef>
              <a:spcAft>
                <a:spcPts val="0"/>
              </a:spcAft>
              <a:buClr>
                <a:srgbClr val="202122"/>
              </a:buClr>
              <a:buSzPts val="1450"/>
              <a:buChar char="●"/>
            </a:pPr>
            <a:r>
              <a:rPr lang="tr" sz="1450">
                <a:solidFill>
                  <a:srgbClr val="202122"/>
                </a:solidFill>
                <a:highlight>
                  <a:srgbClr val="FFFFFF"/>
                </a:highlight>
              </a:rPr>
              <a:t>Oyun yüzeyi olarak tanımlanan masa üst yüzeyi, 274 cm uzunluğunda ve 152,5 cm eninde bir dikdörtgen olacak ve zeminden 76 cm yükseklikte yatay bir düzlemde bulunacaktır.</a:t>
            </a:r>
            <a:endParaRPr sz="1450">
              <a:solidFill>
                <a:srgbClr val="202122"/>
              </a:solidFill>
              <a:highlight>
                <a:srgbClr val="FFFFFF"/>
              </a:highlight>
            </a:endParaRPr>
          </a:p>
          <a:p>
            <a:pPr indent="-320675" lvl="0" marL="685800" rtl="0" algn="l">
              <a:spcBef>
                <a:spcPts val="0"/>
              </a:spcBef>
              <a:spcAft>
                <a:spcPts val="0"/>
              </a:spcAft>
              <a:buClr>
                <a:srgbClr val="202122"/>
              </a:buClr>
              <a:buSzPts val="1450"/>
              <a:buChar char="●"/>
            </a:pPr>
            <a:r>
              <a:rPr lang="tr" sz="1450">
                <a:solidFill>
                  <a:srgbClr val="202122"/>
                </a:solidFill>
                <a:highlight>
                  <a:srgbClr val="FFFFFF"/>
                </a:highlight>
              </a:rPr>
              <a:t>Oyun yüzeyi, masa üst yüzeyinin yan kenarlarını içermeyecektir.</a:t>
            </a:r>
            <a:endParaRPr sz="1450">
              <a:solidFill>
                <a:srgbClr val="202122"/>
              </a:solidFill>
              <a:highlight>
                <a:srgbClr val="FFFFFF"/>
              </a:highlight>
            </a:endParaRPr>
          </a:p>
          <a:p>
            <a:pPr indent="-320675" lvl="0" marL="685800" rtl="0" algn="l">
              <a:spcBef>
                <a:spcPts val="0"/>
              </a:spcBef>
              <a:spcAft>
                <a:spcPts val="0"/>
              </a:spcAft>
              <a:buClr>
                <a:srgbClr val="202122"/>
              </a:buClr>
              <a:buSzPts val="1450"/>
              <a:buChar char="●"/>
            </a:pPr>
            <a:r>
              <a:rPr lang="tr" sz="1450">
                <a:solidFill>
                  <a:srgbClr val="202122"/>
                </a:solidFill>
                <a:highlight>
                  <a:srgbClr val="FFFFFF"/>
                </a:highlight>
              </a:rPr>
              <a:t>Oyun yüzeyi, her yerinde, 30 cm yükseklikten bırakılan standart bir topun yaklaşık 23 cm sıçrama sağlayacağı herhangi bir malzemeden yapılabilir.</a:t>
            </a:r>
            <a:endParaRPr sz="1450">
              <a:solidFill>
                <a:srgbClr val="202122"/>
              </a:solidFill>
              <a:highlight>
                <a:srgbClr val="FFFFFF"/>
              </a:highlight>
            </a:endParaRPr>
          </a:p>
          <a:p>
            <a:pPr indent="-320675" lvl="0" marL="685800" rtl="0" algn="l">
              <a:spcBef>
                <a:spcPts val="0"/>
              </a:spcBef>
              <a:spcAft>
                <a:spcPts val="0"/>
              </a:spcAft>
              <a:buClr>
                <a:srgbClr val="202122"/>
              </a:buClr>
              <a:buSzPts val="1450"/>
              <a:buChar char="●"/>
            </a:pPr>
            <a:r>
              <a:rPr lang="tr" sz="1450">
                <a:solidFill>
                  <a:srgbClr val="202122"/>
                </a:solidFill>
                <a:highlight>
                  <a:srgbClr val="FFFFFF"/>
                </a:highlight>
              </a:rPr>
              <a:t>Oyun yüzeyi tekdüze koyu bir renk ve mat olacaktır. Üst yüzeyin 274 cm uzunluğundaki iki kenarı boyunca 2 cm genişliğinde beyaz kenar çizgileri, 152,5 cm uzunluğundaki iki kenarı boyunca 2 cm genişliğinde beyaz uç çizgileri bulunacaktır.</a:t>
            </a:r>
            <a:endParaRPr sz="1450">
              <a:solidFill>
                <a:srgbClr val="202122"/>
              </a:solidFill>
              <a:highlight>
                <a:srgbClr val="FFFFFF"/>
              </a:highlight>
            </a:endParaRPr>
          </a:p>
          <a:p>
            <a:pPr indent="-320675" lvl="0" marL="685800" rtl="0" algn="l">
              <a:spcBef>
                <a:spcPts val="0"/>
              </a:spcBef>
              <a:spcAft>
                <a:spcPts val="0"/>
              </a:spcAft>
              <a:buClr>
                <a:srgbClr val="202122"/>
              </a:buClr>
              <a:buSzPts val="1450"/>
              <a:buChar char="●"/>
            </a:pPr>
            <a:r>
              <a:rPr lang="tr" sz="1450">
                <a:solidFill>
                  <a:srgbClr val="202122"/>
                </a:solidFill>
                <a:highlight>
                  <a:srgbClr val="FFFFFF"/>
                </a:highlight>
              </a:rPr>
              <a:t>Oyun yüzeyi, 152,5 cm uzunluğundaki uç çizgilerine paralel olarak uzanan düşey bir ağ ile iki eşit sahaya bölünecek ve her saha bütün yüzeyince kesintisiz tek parça olacaktır.</a:t>
            </a:r>
            <a:endParaRPr sz="1450">
              <a:solidFill>
                <a:srgbClr val="202122"/>
              </a:solidFill>
              <a:highlight>
                <a:srgbClr val="FFFFFF"/>
              </a:highlight>
            </a:endParaRPr>
          </a:p>
          <a:p>
            <a:pPr indent="-320675" lvl="0" marL="685800" rtl="0" algn="l">
              <a:spcBef>
                <a:spcPts val="0"/>
              </a:spcBef>
              <a:spcAft>
                <a:spcPts val="0"/>
              </a:spcAft>
              <a:buClr>
                <a:srgbClr val="202122"/>
              </a:buClr>
              <a:buSzPts val="1450"/>
              <a:buChar char="●"/>
            </a:pPr>
            <a:r>
              <a:rPr lang="tr" sz="1450">
                <a:solidFill>
                  <a:srgbClr val="202122"/>
                </a:solidFill>
                <a:highlight>
                  <a:srgbClr val="FFFFFF"/>
                </a:highlight>
              </a:rPr>
              <a:t>Çift yarışmaları için her saha, kenar çizgilerine paralel uzanan 3 mm eninde beyaz bir orta çizgisi ile iki eşit yarı alana bölünecektir. Orta çizgi, her iki sahada da sağ yarı sahaların bir parçası kabul edilecektir.</a:t>
            </a:r>
            <a:endParaRPr sz="1450">
              <a:solidFill>
                <a:srgbClr val="202122"/>
              </a:solidFill>
              <a:highlight>
                <a:srgbClr val="FFFFFF"/>
              </a:highlight>
            </a:endParaRPr>
          </a:p>
          <a:p>
            <a:pPr indent="0" lvl="0" marL="0" rtl="0" algn="l">
              <a:spcBef>
                <a:spcPts val="1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Ağ Takımı</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7025" lvl="0" marL="685800" rtl="0" algn="l">
              <a:spcBef>
                <a:spcPts val="600"/>
              </a:spcBef>
              <a:spcAft>
                <a:spcPts val="0"/>
              </a:spcAft>
              <a:buClr>
                <a:srgbClr val="202122"/>
              </a:buClr>
              <a:buSzPts val="1550"/>
              <a:buChar char="●"/>
            </a:pPr>
            <a:r>
              <a:rPr lang="tr" sz="1550">
                <a:solidFill>
                  <a:srgbClr val="202122"/>
                </a:solidFill>
                <a:highlight>
                  <a:srgbClr val="FFFFFF"/>
                </a:highlight>
              </a:rPr>
              <a:t>Ağ takımı: ağ, ağın askı kordonu, destek çubukları ve bunları masaya tutturan kenetlerden oluşacaktır.</a:t>
            </a:r>
            <a:endParaRPr sz="1550">
              <a:solidFill>
                <a:srgbClr val="202122"/>
              </a:solidFill>
              <a:highlight>
                <a:srgbClr val="FFFFFF"/>
              </a:highlight>
            </a:endParaRPr>
          </a:p>
          <a:p>
            <a:pPr indent="-327025" lvl="0" marL="685800" rtl="0" algn="l">
              <a:spcBef>
                <a:spcPts val="0"/>
              </a:spcBef>
              <a:spcAft>
                <a:spcPts val="0"/>
              </a:spcAft>
              <a:buClr>
                <a:srgbClr val="202122"/>
              </a:buClr>
              <a:buSzPts val="1550"/>
              <a:buChar char="●"/>
            </a:pPr>
            <a:r>
              <a:rPr lang="tr" sz="1550">
                <a:solidFill>
                  <a:srgbClr val="202122"/>
                </a:solidFill>
                <a:highlight>
                  <a:srgbClr val="FFFFFF"/>
                </a:highlight>
              </a:rPr>
              <a:t>Ağ, dış kenarları her iki yanda masa kenar çizgilerinden 15.25 cm dışarıda olan 15.25 cm yüksekliğindeki destek çubuklarına tutturulmuş bir askı kordonuna asılı olacaktır.</a:t>
            </a:r>
            <a:endParaRPr sz="1550">
              <a:solidFill>
                <a:srgbClr val="202122"/>
              </a:solidFill>
              <a:highlight>
                <a:srgbClr val="FFFFFF"/>
              </a:highlight>
            </a:endParaRPr>
          </a:p>
          <a:p>
            <a:pPr indent="-327025" lvl="0" marL="685800" rtl="0" algn="l">
              <a:spcBef>
                <a:spcPts val="0"/>
              </a:spcBef>
              <a:spcAft>
                <a:spcPts val="0"/>
              </a:spcAft>
              <a:buClr>
                <a:srgbClr val="202122"/>
              </a:buClr>
              <a:buSzPts val="1550"/>
              <a:buChar char="●"/>
            </a:pPr>
            <a:r>
              <a:rPr lang="tr" sz="1550">
                <a:solidFill>
                  <a:srgbClr val="202122"/>
                </a:solidFill>
                <a:highlight>
                  <a:srgbClr val="FFFFFF"/>
                </a:highlight>
              </a:rPr>
              <a:t>Ağın üstü, bütün uzunluğu boyunca oyun yüzeyinden 15.25 cm yükseklikte bulunacaktır.</a:t>
            </a:r>
            <a:endParaRPr sz="1550">
              <a:solidFill>
                <a:srgbClr val="202122"/>
              </a:solidFill>
              <a:highlight>
                <a:srgbClr val="FFFFFF"/>
              </a:highlight>
            </a:endParaRPr>
          </a:p>
          <a:p>
            <a:pPr indent="-327025" lvl="0" marL="685800" rtl="0" algn="l">
              <a:spcBef>
                <a:spcPts val="0"/>
              </a:spcBef>
              <a:spcAft>
                <a:spcPts val="0"/>
              </a:spcAft>
              <a:buClr>
                <a:srgbClr val="202122"/>
              </a:buClr>
              <a:buSzPts val="1550"/>
              <a:buChar char="●"/>
            </a:pPr>
            <a:r>
              <a:rPr lang="tr" sz="1550">
                <a:solidFill>
                  <a:srgbClr val="202122"/>
                </a:solidFill>
                <a:highlight>
                  <a:srgbClr val="FFFFFF"/>
                </a:highlight>
              </a:rPr>
              <a:t>Ağın altı, bütün uzunluğu boyunca, mümkün olduğunca oyun yüzeyine yakın olacak, ağın yan uçları ise destek çubuklarının üstünden altına kadar kesintisiz olarak tutturulacaktır.</a:t>
            </a:r>
            <a:endParaRPr sz="1550">
              <a:solidFill>
                <a:srgbClr val="202122"/>
              </a:solidFill>
              <a:highlight>
                <a:srgbClr val="FFFFFF"/>
              </a:highlight>
            </a:endParaRPr>
          </a:p>
          <a:p>
            <a:pPr indent="0" lvl="0" marL="0" rtl="0" algn="l">
              <a:spcBef>
                <a:spcPts val="1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Top</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7025" lvl="0" marL="685800" rtl="0" algn="l">
              <a:spcBef>
                <a:spcPts val="600"/>
              </a:spcBef>
              <a:spcAft>
                <a:spcPts val="0"/>
              </a:spcAft>
              <a:buClr>
                <a:srgbClr val="202122"/>
              </a:buClr>
              <a:buSzPts val="1550"/>
              <a:buChar char="●"/>
            </a:pPr>
            <a:r>
              <a:rPr lang="tr" sz="1550">
                <a:solidFill>
                  <a:srgbClr val="202122"/>
                </a:solidFill>
                <a:highlight>
                  <a:srgbClr val="FFFFFF"/>
                </a:highlight>
              </a:rPr>
              <a:t>Top: çapı en az 40 mm olan bir küre olacaktır. ITTF onayı şarttır.</a:t>
            </a:r>
            <a:endParaRPr sz="1550">
              <a:solidFill>
                <a:srgbClr val="202122"/>
              </a:solidFill>
              <a:highlight>
                <a:srgbClr val="FFFFFF"/>
              </a:highlight>
            </a:endParaRPr>
          </a:p>
          <a:p>
            <a:pPr indent="-327025" lvl="0" marL="685800" rtl="0" algn="l">
              <a:spcBef>
                <a:spcPts val="0"/>
              </a:spcBef>
              <a:spcAft>
                <a:spcPts val="0"/>
              </a:spcAft>
              <a:buClr>
                <a:srgbClr val="202122"/>
              </a:buClr>
              <a:buSzPts val="1550"/>
              <a:buChar char="●"/>
            </a:pPr>
            <a:r>
              <a:rPr lang="tr" sz="1550">
                <a:solidFill>
                  <a:srgbClr val="202122"/>
                </a:solidFill>
                <a:highlight>
                  <a:srgbClr val="FFFFFF"/>
                </a:highlight>
              </a:rPr>
              <a:t>Topun ağırlığı 2,7 g olacaktır.</a:t>
            </a:r>
            <a:endParaRPr sz="1550">
              <a:solidFill>
                <a:srgbClr val="202122"/>
              </a:solidFill>
              <a:highlight>
                <a:srgbClr val="FFFFFF"/>
              </a:highlight>
            </a:endParaRPr>
          </a:p>
          <a:p>
            <a:pPr indent="-327025" lvl="0" marL="685800" rtl="0" algn="l">
              <a:spcBef>
                <a:spcPts val="0"/>
              </a:spcBef>
              <a:spcAft>
                <a:spcPts val="0"/>
              </a:spcAft>
              <a:buClr>
                <a:srgbClr val="202122"/>
              </a:buClr>
              <a:buSzPts val="1550"/>
              <a:buChar char="●"/>
            </a:pPr>
            <a:r>
              <a:rPr lang="tr" sz="1550">
                <a:solidFill>
                  <a:srgbClr val="202122"/>
                </a:solidFill>
                <a:highlight>
                  <a:srgbClr val="FFFFFF"/>
                </a:highlight>
              </a:rPr>
              <a:t>Top, selüloit veya benzer bir plastik malzemeden yapılmış, beyaz veya turuncu renkte ve mat olacaktır.</a:t>
            </a:r>
            <a:endParaRPr sz="1550">
              <a:solidFill>
                <a:srgbClr val="202122"/>
              </a:solidFill>
              <a:highlight>
                <a:srgbClr val="FFFFFF"/>
              </a:highlight>
            </a:endParaRPr>
          </a:p>
          <a:p>
            <a:pPr indent="0" lvl="0" marL="0" rtl="0" algn="l">
              <a:spcBef>
                <a:spcPts val="1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Raket</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6624" lvl="0" marL="685800" rtl="0" algn="l">
              <a:lnSpc>
                <a:spcPct val="95000"/>
              </a:lnSpc>
              <a:spcBef>
                <a:spcPts val="600"/>
              </a:spcBef>
              <a:spcAft>
                <a:spcPts val="0"/>
              </a:spcAft>
              <a:buClr>
                <a:srgbClr val="202122"/>
              </a:buClr>
              <a:buSzPts val="1071"/>
              <a:buChar char="●"/>
            </a:pPr>
            <a:r>
              <a:rPr lang="tr" sz="1071">
                <a:solidFill>
                  <a:srgbClr val="202122"/>
                </a:solidFill>
                <a:highlight>
                  <a:srgbClr val="FFFFFF"/>
                </a:highlight>
              </a:rPr>
              <a:t>Raket, herhangi bir boyut, şekil ve ağırlıkta olabilir ama olimpiyatlarda küçük raketler tercih edilir. Tablası eğilmez, sert ve düz yüzeyli olacaktır.</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Tabla kalınlığının en az %85’i doğal tahta olacaktır. Tablanın içindeki yapıştırıcı tabakası, karbon lifi, cam lifi veya sıkıştırılmış kâğıt gibi lifli malzemeler ile sıkıştırılmış olabilir. Ancak bu tabaka toplam kalınlığın %7,5’u veya 0,35 mm’den daha kalın olmayacaktır (Hangisi daha küçük ise).</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Tablanın topa vurmak için kullanılan yüzü, yapıştırıcı dahil toplam kalınlığı 2 mm’den çok olmayan, pütürleri dışa doğru, basit bir pütürlü lastikle, ya da yapıştırıcı dahil toplam kalınlığı 4 mm’den çok olmayan, pütürleri içeri veya dışarı doğru, sandviç lastikle kaplanmış olacaktır.</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Basit pütürlü lastik, bütün yüzeyi boyunca 1 cm²’de 10’dan az, 30’dan çok olmayan düzgün dağılmış pütürlü, doğal veya sentetik, tek tabakalı gözeneksiz bir lastiktir.</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Sandviç lastik, kalınlığı 2mm’den çok olmayan basit pütürlü bir dış tabaka ile kaplanmış gözenekli bir lastik tabakasıdır.</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Lastik kaplama malzemesi tablayı tamamen kaplamalı, ancak taşmamalıdır. Sadece, tablanın raket sapına en yakın ve parmaklarla kavranan kısmı kaplanmamış bırakılabilir veya herhangi bir malzeme ile kaplanabilir.</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Tabla, içindeki her tabaka ile kaplama malzemesinin her tabakası veya tablanın topa vurmada kullanılan yüzündeki yapıştırıcı, sürekli, kesintisiz ve her yerinde aynı kalınlıkta olacaktır.</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Tablanın kaplı yüzündeki kaplama malzemesinin yüzeyi veya kaplamasız tabla yüzü; mat, bir yüzde canlı kırmızı, diğer yüzde siyah olacaktır.</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Raket kaplaması herhangi bir fiziksel, kimyasal veya başkaca bir işleme tabi tutulmaksızın kullanılacaktır.</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Yüzeyin sürekliliğinde ve renginin tek düzeliğinde, eskimeden oluşan küçük sapma ve aşınmalara, yüzeyin niteliğini önemli ölçüde değiştirmediği sürece izin verilebilir.</a:t>
            </a:r>
            <a:endParaRPr sz="1071">
              <a:solidFill>
                <a:srgbClr val="202122"/>
              </a:solidFill>
              <a:highlight>
                <a:srgbClr val="FFFFFF"/>
              </a:highlight>
            </a:endParaRPr>
          </a:p>
          <a:p>
            <a:pPr indent="-296624" lvl="0" marL="685800" rtl="0" algn="l">
              <a:lnSpc>
                <a:spcPct val="95000"/>
              </a:lnSpc>
              <a:spcBef>
                <a:spcPts val="0"/>
              </a:spcBef>
              <a:spcAft>
                <a:spcPts val="0"/>
              </a:spcAft>
              <a:buClr>
                <a:srgbClr val="202122"/>
              </a:buClr>
              <a:buSzPts val="1071"/>
              <a:buChar char="●"/>
            </a:pPr>
            <a:r>
              <a:rPr lang="tr" sz="1071">
                <a:solidFill>
                  <a:srgbClr val="202122"/>
                </a:solidFill>
                <a:highlight>
                  <a:srgbClr val="FFFFFF"/>
                </a:highlight>
              </a:rPr>
              <a:t>Oyunun başlangıcında veya oyun içinde raketini değiştirdiğinde, her oyuncu, rakibine ve hakeme kullanacağı raketi gösterecek ve incelemelerine izin verecektir.</a:t>
            </a:r>
            <a:endParaRPr sz="1071">
              <a:solidFill>
                <a:srgbClr val="202122"/>
              </a:solidFill>
              <a:highlight>
                <a:srgbClr val="FFFFFF"/>
              </a:highlight>
            </a:endParaRPr>
          </a:p>
          <a:p>
            <a:pPr indent="0" lvl="0" marL="0" rtl="0" algn="l">
              <a:lnSpc>
                <a:spcPct val="95000"/>
              </a:lnSpc>
              <a:spcBef>
                <a:spcPts val="100"/>
              </a:spcBef>
              <a:spcAft>
                <a:spcPts val="1200"/>
              </a:spcAft>
              <a:buSzPts val="1018"/>
              <a:buNone/>
            </a:pPr>
            <a:r>
              <a:t/>
            </a:r>
            <a:endParaRPr sz="166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Sayı</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301580" lvl="0" marL="685800" rtl="0" algn="l">
              <a:spcBef>
                <a:spcPts val="600"/>
              </a:spcBef>
              <a:spcAft>
                <a:spcPts val="0"/>
              </a:spcAft>
              <a:buClr>
                <a:srgbClr val="202122"/>
              </a:buClr>
              <a:buSzPct val="100000"/>
              <a:buChar char="●"/>
            </a:pPr>
            <a:r>
              <a:rPr lang="tr" sz="4597">
                <a:solidFill>
                  <a:srgbClr val="202122"/>
                </a:solidFill>
                <a:highlight>
                  <a:srgbClr val="FFFFFF"/>
                </a:highlight>
              </a:rPr>
              <a:t>Ralli let olmadıkça, oyuncu aşağıdaki hallerde sayı kazanacaktır.</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 doğru bir servis atışı yapamazsa,</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 doğru bir karşılama yapamazsa,</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Top, oyuncunun servis atışından veya karşılamasından sonra, rakibi tarafından vurulmadan önce, ağ takımı dışında herhangi bir şeye değerse,</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Top, rakibinin vuruşundan sonra, kendi sahasına değmeden kenar çizgisi veya uç çizgisini geçerse,</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Top, rakip tarafından vurulduktan sonra, ağ gözenekleri içinden veya ağ ile ağ destekleri arasından veya ağ ile oyun yüzeyi arasından geçerse,</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 topu engellerse,</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 topa art arda kasten iki kez vurursa,</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 topa raket tablasının 2.4.3, 2.4.4 ve 2.4.5 maddelerinde belirtilen özelliklere uymayan bir yanı ile vurursa,</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 veya rakibinin giydiği veya taşıdığı herhangi bir şey oyun yüzeyini hareket ettirirse,</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 veya rakibinin giydiği veya taşıdığı herhangi bir şey ağ takımına değerse,</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Rakibinin serbest eli oyun yüzeyine değerse,</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Rakip çift, topa ilk servisçi ve ilk karşılayanla belirlenen uygun sıra dışında vurursa,</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Çabuklaştırılmış sistemde, 2.15.4. maddesinde belirtilen halde,</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Eğer her iki oyuncu veya çift fiziksel engel nedeniyle tekerlekli sandalyede oynuyorsa,</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Topa vurulduğunda, rakibinin kalçası oturduğu yer veya minder(ler) ile yeterli teması sağlayamamışsa,</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 topa vurmadan önce herhangi bir eli ile masaya dokunursa,</a:t>
            </a:r>
            <a:endParaRPr sz="4597">
              <a:solidFill>
                <a:srgbClr val="202122"/>
              </a:solidFill>
              <a:highlight>
                <a:srgbClr val="FFFFFF"/>
              </a:highlight>
            </a:endParaRPr>
          </a:p>
          <a:p>
            <a:pPr indent="-301580" lvl="0" marL="685800" rtl="0" algn="l">
              <a:spcBef>
                <a:spcPts val="0"/>
              </a:spcBef>
              <a:spcAft>
                <a:spcPts val="0"/>
              </a:spcAft>
              <a:buClr>
                <a:srgbClr val="202122"/>
              </a:buClr>
              <a:buSzPct val="100000"/>
              <a:buChar char="●"/>
            </a:pPr>
            <a:r>
              <a:rPr lang="tr" sz="4597">
                <a:solidFill>
                  <a:srgbClr val="202122"/>
                </a:solidFill>
                <a:highlight>
                  <a:srgbClr val="FFFFFF"/>
                </a:highlight>
              </a:rPr>
              <a:t>Rakibinin tekerlekli sandalyesinin ayaklığı veya oyuncunun ayağı oyun sırasında zemine dokunursa,</a:t>
            </a:r>
            <a:endParaRPr sz="4597">
              <a:solidFill>
                <a:srgbClr val="202122"/>
              </a:solidFill>
              <a:highlight>
                <a:srgbClr val="FFFFFF"/>
              </a:highlight>
            </a:endParaRPr>
          </a:p>
          <a:p>
            <a:pPr indent="0" lvl="0" marL="0" rtl="0" algn="l">
              <a:spcBef>
                <a:spcPts val="1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Video:</a:t>
            </a:r>
            <a:endParaRPr/>
          </a:p>
          <a:p>
            <a:pPr indent="0" lvl="0" marL="0" rtl="0" algn="l">
              <a:spcBef>
                <a:spcPts val="1200"/>
              </a:spcBef>
              <a:spcAft>
                <a:spcPts val="0"/>
              </a:spcAft>
              <a:buNone/>
            </a:pPr>
            <a:r>
              <a:rPr lang="tr" u="sng">
                <a:solidFill>
                  <a:schemeClr val="hlink"/>
                </a:solidFill>
                <a:hlinkClick r:id="rId3"/>
              </a:rPr>
              <a:t>https://youtu.be/STtx5IV1k7k</a:t>
            </a:r>
            <a:endParaRPr b="1"/>
          </a:p>
          <a:p>
            <a:pPr indent="0" lvl="0" marL="0" rtl="0" algn="l">
              <a:spcBef>
                <a:spcPts val="1200"/>
              </a:spcBef>
              <a:spcAft>
                <a:spcPts val="0"/>
              </a:spcAft>
              <a:buNone/>
            </a:pPr>
            <a:r>
              <a:rPr lang="tr" u="sng">
                <a:solidFill>
                  <a:schemeClr val="hlink"/>
                </a:solidFill>
                <a:hlinkClick r:id="rId4"/>
              </a:rPr>
              <a:t>https://youtu.be/RaN67O77hDY</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