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Oswald Medium"/>
      <p:regular r:id="rId12"/>
      <p:bold r:id="rId13"/>
    </p:embeddedFont>
    <p:embeddedFont>
      <p:font typeface="Oswald"/>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OswaldMedium-bold.fntdata"/><Relationship Id="rId12" Type="http://schemas.openxmlformats.org/officeDocument/2006/relationships/font" Target="fonts/Oswald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bold.fntdata"/><Relationship Id="rId14"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00c090f6e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00c090f6e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0c090f6ee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00c090f6ee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00ea7612e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00ea7612e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00c090f6e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00c090f6e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00ea7612e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00ea7612e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en.wikipedia.org/wiki/Psychedelic_music" TargetMode="External"/><Relationship Id="rId4" Type="http://schemas.openxmlformats.org/officeDocument/2006/relationships/hyperlink" Target="https://en.wikipedia.org/wiki/Anatolian_rock" TargetMode="External"/><Relationship Id="rId5" Type="http://schemas.openxmlformats.org/officeDocument/2006/relationships/hyperlink" Target="https://en.wikipedia.org/wiki/Kora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en.wikipedia.org/w/index.php?title=Bunal%C4%B1m&amp;action=edit&amp;redlink=1" TargetMode="External"/><Relationship Id="rId4" Type="http://schemas.openxmlformats.org/officeDocument/2006/relationships/hyperlink" Target="https://en.wikipedia.org/wiki/Arabesque_music" TargetMode="External"/><Relationship Id="rId5" Type="http://schemas.openxmlformats.org/officeDocument/2006/relationships/hyperlink" Target="https://en.wikipedia.org/wiki/Orhan_Gencebay" TargetMode="External"/><Relationship Id="rId6" Type="http://schemas.openxmlformats.org/officeDocument/2006/relationships/hyperlink" Target="https://en.wikipedia.org/wiki/Elektronik_T%C3%BCrk%C3%BCle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en.wikipedia.org/wiki/Psychedelic_music" TargetMode="External"/><Relationship Id="rId4" Type="http://schemas.openxmlformats.org/officeDocument/2006/relationships/hyperlink" Target="https://en.wikipedia.org/wiki/Ba%C4%9Flam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5053225" y="438900"/>
            <a:ext cx="4090775" cy="3977650"/>
          </a:xfrm>
          <a:prstGeom prst="rect">
            <a:avLst/>
          </a:prstGeom>
          <a:noFill/>
          <a:ln>
            <a:noFill/>
          </a:ln>
        </p:spPr>
      </p:pic>
      <p:sp>
        <p:nvSpPr>
          <p:cNvPr id="55" name="Google Shape;55;p13"/>
          <p:cNvSpPr txBox="1"/>
          <p:nvPr>
            <p:ph type="ctrTitle"/>
          </p:nvPr>
        </p:nvSpPr>
        <p:spPr>
          <a:xfrm>
            <a:off x="-1485092" y="78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tr">
                <a:solidFill>
                  <a:schemeClr val="lt1"/>
                </a:solidFill>
                <a:latin typeface="Oswald"/>
                <a:ea typeface="Oswald"/>
                <a:cs typeface="Oswald"/>
                <a:sym typeface="Oswald"/>
              </a:rPr>
              <a:t>Erkin Koray</a:t>
            </a:r>
            <a:endParaRPr b="1">
              <a:solidFill>
                <a:schemeClr val="lt1"/>
              </a:solidFill>
              <a:latin typeface="Oswald"/>
              <a:ea typeface="Oswald"/>
              <a:cs typeface="Oswald"/>
              <a:sym typeface="Oswald"/>
            </a:endParaRPr>
          </a:p>
        </p:txBody>
      </p:sp>
      <p:sp>
        <p:nvSpPr>
          <p:cNvPr id="56" name="Google Shape;56;p13"/>
          <p:cNvSpPr txBox="1"/>
          <p:nvPr>
            <p:ph idx="1" type="subTitle"/>
          </p:nvPr>
        </p:nvSpPr>
        <p:spPr>
          <a:xfrm>
            <a:off x="-1485100" y="12430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tr">
                <a:solidFill>
                  <a:schemeClr val="lt1"/>
                </a:solidFill>
                <a:highlight>
                  <a:schemeClr val="dk1"/>
                </a:highlight>
                <a:latin typeface="Oswald"/>
                <a:ea typeface="Oswald"/>
                <a:cs typeface="Oswald"/>
                <a:sym typeface="Oswald"/>
              </a:rPr>
              <a:t>Father of Anatolian Rock</a:t>
            </a:r>
            <a:endParaRPr>
              <a:solidFill>
                <a:schemeClr val="lt1"/>
              </a:solidFill>
              <a:highlight>
                <a:schemeClr val="dk1"/>
              </a:highlight>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solidFill>
                  <a:schemeClr val="lt1"/>
                </a:solidFill>
                <a:latin typeface="Oswald Medium"/>
                <a:ea typeface="Oswald Medium"/>
                <a:cs typeface="Oswald Medium"/>
                <a:sym typeface="Oswald Medium"/>
              </a:rPr>
              <a:t>His Life</a:t>
            </a:r>
            <a:endParaRPr>
              <a:solidFill>
                <a:schemeClr val="lt1"/>
              </a:solidFill>
              <a:latin typeface="Oswald Medium"/>
              <a:ea typeface="Oswald Medium"/>
              <a:cs typeface="Oswald Medium"/>
              <a:sym typeface="Oswald Medium"/>
            </a:endParaRPr>
          </a:p>
        </p:txBody>
      </p:sp>
      <p:sp>
        <p:nvSpPr>
          <p:cNvPr id="62" name="Google Shape;62;p14"/>
          <p:cNvSpPr txBox="1"/>
          <p:nvPr>
            <p:ph idx="1" type="body"/>
          </p:nvPr>
        </p:nvSpPr>
        <p:spPr>
          <a:xfrm>
            <a:off x="311700" y="782150"/>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solidFill>
                <a:schemeClr val="lt1"/>
              </a:solidFill>
              <a:highlight>
                <a:schemeClr val="dk1"/>
              </a:highlight>
            </a:endParaRPr>
          </a:p>
          <a:p>
            <a:pPr indent="0" lvl="0" marL="0" rtl="0" algn="l">
              <a:spcBef>
                <a:spcPts val="1200"/>
              </a:spcBef>
              <a:spcAft>
                <a:spcPts val="1200"/>
              </a:spcAft>
              <a:buNone/>
            </a:pPr>
            <a:r>
              <a:rPr lang="tr" sz="1840">
                <a:solidFill>
                  <a:schemeClr val="lt1"/>
                </a:solidFill>
                <a:highlight>
                  <a:schemeClr val="dk1"/>
                </a:highlight>
                <a:latin typeface="Oswald"/>
                <a:ea typeface="Oswald"/>
                <a:cs typeface="Oswald"/>
                <a:sym typeface="Oswald"/>
              </a:rPr>
              <a:t>He was born on June 24, 1941 in Istanbul. At an early age, he learned piano from her mother, Vecihe Koray, a piano teacher, and later started playing the guitar. In the second half of the '50s, when he was educated at Istanbul German High School, he started playing the current pieces of the period with Erkin Koray and Ritimcileri, an amateur group he founded with his friends. After high school education, he continued his work as a semi-amateur and semi-professional until the early 60's. </a:t>
            </a:r>
            <a:r>
              <a:rPr lang="tr" sz="1640">
                <a:solidFill>
                  <a:schemeClr val="lt1"/>
                </a:solidFill>
                <a:highlight>
                  <a:schemeClr val="dk1"/>
                </a:highlight>
                <a:latin typeface="Oswald"/>
                <a:ea typeface="Oswald"/>
                <a:cs typeface="Oswald"/>
                <a:sym typeface="Oswald"/>
              </a:rPr>
              <a:t> </a:t>
            </a:r>
            <a:r>
              <a:rPr lang="tr" sz="1850">
                <a:solidFill>
                  <a:schemeClr val="lt1"/>
                </a:solidFill>
                <a:highlight>
                  <a:schemeClr val="dk1"/>
                </a:highlight>
                <a:latin typeface="Oswald"/>
                <a:ea typeface="Oswald"/>
                <a:cs typeface="Oswald"/>
                <a:sym typeface="Oswald"/>
              </a:rPr>
              <a:t>By the late 1960s, he had become a major figure in Turkish </a:t>
            </a:r>
            <a:r>
              <a:rPr lang="tr" sz="1850">
                <a:solidFill>
                  <a:schemeClr val="lt1"/>
                </a:solidFill>
                <a:highlight>
                  <a:schemeClr val="dk1"/>
                </a:highlight>
                <a:uFill>
                  <a:noFill/>
                </a:uFill>
                <a:latin typeface="Oswald"/>
                <a:ea typeface="Oswald"/>
                <a:cs typeface="Oswald"/>
                <a:sym typeface="Oswald"/>
                <a:hlinkClick r:id="rId3">
                  <a:extLst>
                    <a:ext uri="{A12FA001-AC4F-418D-AE19-62706E023703}">
                      <ahyp:hlinkClr val="tx"/>
                    </a:ext>
                  </a:extLst>
                </a:hlinkClick>
              </a:rPr>
              <a:t>psychedelic music</a:t>
            </a:r>
            <a:r>
              <a:rPr lang="tr" sz="1850">
                <a:solidFill>
                  <a:schemeClr val="lt1"/>
                </a:solidFill>
                <a:highlight>
                  <a:schemeClr val="dk1"/>
                </a:highlight>
                <a:latin typeface="Oswald"/>
                <a:ea typeface="Oswald"/>
                <a:cs typeface="Oswald"/>
                <a:sym typeface="Oswald"/>
              </a:rPr>
              <a:t> and </a:t>
            </a:r>
            <a:r>
              <a:rPr lang="tr" sz="1850">
                <a:solidFill>
                  <a:schemeClr val="lt1"/>
                </a:solidFill>
                <a:highlight>
                  <a:schemeClr val="dk1"/>
                </a:highlight>
                <a:uFill>
                  <a:noFill/>
                </a:uFill>
                <a:latin typeface="Oswald"/>
                <a:ea typeface="Oswald"/>
                <a:cs typeface="Oswald"/>
                <a:sym typeface="Oswald"/>
                <a:hlinkClick r:id="rId4">
                  <a:extLst>
                    <a:ext uri="{A12FA001-AC4F-418D-AE19-62706E023703}">
                      <ahyp:hlinkClr val="tx"/>
                    </a:ext>
                  </a:extLst>
                </a:hlinkClick>
              </a:rPr>
              <a:t>Anatolian rock</a:t>
            </a:r>
            <a:r>
              <a:rPr lang="tr" sz="1850">
                <a:solidFill>
                  <a:schemeClr val="lt1"/>
                </a:solidFill>
                <a:highlight>
                  <a:schemeClr val="dk1"/>
                </a:highlight>
                <a:latin typeface="Oswald"/>
                <a:ea typeface="Oswald"/>
                <a:cs typeface="Oswald"/>
                <a:sym typeface="Oswald"/>
              </a:rPr>
              <a:t>, beginning with his first psychedelic single </a:t>
            </a:r>
            <a:r>
              <a:rPr i="1" lang="tr" sz="1850">
                <a:solidFill>
                  <a:schemeClr val="lt1"/>
                </a:solidFill>
                <a:highlight>
                  <a:schemeClr val="dk1"/>
                </a:highlight>
                <a:latin typeface="Oswald"/>
                <a:ea typeface="Oswald"/>
                <a:cs typeface="Oswald"/>
                <a:sym typeface="Oswald"/>
              </a:rPr>
              <a:t>Anma Arkadaş</a:t>
            </a:r>
            <a:r>
              <a:rPr lang="tr" sz="1850">
                <a:solidFill>
                  <a:schemeClr val="lt1"/>
                </a:solidFill>
                <a:highlight>
                  <a:schemeClr val="dk1"/>
                </a:highlight>
                <a:latin typeface="Oswald"/>
                <a:ea typeface="Oswald"/>
                <a:cs typeface="Oswald"/>
                <a:sym typeface="Oswald"/>
              </a:rPr>
              <a:t> in 1967. </a:t>
            </a:r>
            <a:r>
              <a:rPr lang="tr" sz="1850">
                <a:solidFill>
                  <a:schemeClr val="lt1"/>
                </a:solidFill>
                <a:highlight>
                  <a:schemeClr val="dk1"/>
                </a:highlight>
                <a:uFill>
                  <a:noFill/>
                </a:uFill>
                <a:latin typeface="Oswald"/>
                <a:ea typeface="Oswald"/>
                <a:cs typeface="Oswald"/>
                <a:sym typeface="Oswald"/>
                <a:hlinkClick r:id="rId5">
                  <a:extLst>
                    <a:ext uri="{A12FA001-AC4F-418D-AE19-62706E023703}">
                      <ahyp:hlinkClr val="tx"/>
                    </a:ext>
                  </a:extLst>
                </a:hlinkClick>
              </a:rPr>
              <a:t>Koray</a:t>
            </a:r>
            <a:r>
              <a:rPr lang="tr" sz="1850">
                <a:solidFill>
                  <a:schemeClr val="lt1"/>
                </a:solidFill>
                <a:highlight>
                  <a:schemeClr val="dk1"/>
                </a:highlight>
                <a:latin typeface="Oswald"/>
                <a:ea typeface="Oswald"/>
                <a:cs typeface="Oswald"/>
                <a:sym typeface="Oswald"/>
              </a:rPr>
              <a:t> followed this with a number of singles, both by himself and in collaboration with others, that established him as a force to be reckoned with on the Turkish rock scene.</a:t>
            </a:r>
            <a:endParaRPr sz="2450">
              <a:solidFill>
                <a:schemeClr val="lt1"/>
              </a:solidFill>
              <a:highlight>
                <a:schemeClr val="dk1"/>
              </a:highlight>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solidFill>
                <a:schemeClr val="lt1"/>
              </a:solidFill>
              <a:highlight>
                <a:schemeClr val="dk1"/>
              </a:highlight>
              <a:latin typeface="Oswald"/>
              <a:ea typeface="Oswald"/>
              <a:cs typeface="Oswald"/>
              <a:sym typeface="Oswald"/>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1750">
                <a:solidFill>
                  <a:schemeClr val="lt1"/>
                </a:solidFill>
                <a:highlight>
                  <a:schemeClr val="dk1"/>
                </a:highlight>
                <a:latin typeface="Oswald"/>
                <a:ea typeface="Oswald"/>
                <a:cs typeface="Oswald"/>
                <a:sym typeface="Oswald"/>
              </a:rPr>
              <a:t>In the early 1970s, he formed the group </a:t>
            </a:r>
            <a:r>
              <a:rPr i="1" lang="tr" sz="1750">
                <a:solidFill>
                  <a:schemeClr val="lt1"/>
                </a:solidFill>
                <a:highlight>
                  <a:schemeClr val="dk1"/>
                </a:highlight>
                <a:latin typeface="Oswald"/>
                <a:ea typeface="Oswald"/>
                <a:cs typeface="Oswald"/>
                <a:sym typeface="Oswald"/>
              </a:rPr>
              <a:t>Ter</a:t>
            </a:r>
            <a:r>
              <a:rPr lang="tr" sz="1750">
                <a:solidFill>
                  <a:schemeClr val="lt1"/>
                </a:solidFill>
                <a:highlight>
                  <a:schemeClr val="dk1"/>
                </a:highlight>
                <a:latin typeface="Oswald"/>
                <a:ea typeface="Oswald"/>
                <a:cs typeface="Oswald"/>
                <a:sym typeface="Oswald"/>
              </a:rPr>
              <a:t>  with the former members of the band </a:t>
            </a:r>
            <a:r>
              <a:rPr lang="tr" sz="1750">
                <a:solidFill>
                  <a:schemeClr val="lt1"/>
                </a:solidFill>
                <a:highlight>
                  <a:schemeClr val="dk1"/>
                </a:highlight>
                <a:uFill>
                  <a:noFill/>
                </a:uFill>
                <a:latin typeface="Oswald"/>
                <a:ea typeface="Oswald"/>
                <a:cs typeface="Oswald"/>
                <a:sym typeface="Oswald"/>
                <a:hlinkClick r:id="rId3">
                  <a:extLst>
                    <a:ext uri="{A12FA001-AC4F-418D-AE19-62706E023703}">
                      <ahyp:hlinkClr val="tx"/>
                    </a:ext>
                  </a:extLst>
                </a:hlinkClick>
              </a:rPr>
              <a:t>Bunalım</a:t>
            </a:r>
            <a:r>
              <a:rPr lang="tr" sz="1750">
                <a:solidFill>
                  <a:schemeClr val="lt1"/>
                </a:solidFill>
                <a:highlight>
                  <a:schemeClr val="dk1"/>
                </a:highlight>
                <a:latin typeface="Oswald"/>
                <a:ea typeface="Oswald"/>
                <a:cs typeface="Oswald"/>
                <a:sym typeface="Oswald"/>
              </a:rPr>
              <a:t> ("Group Depression"). Although they only recorded one single before breaking up, </a:t>
            </a:r>
            <a:r>
              <a:rPr i="1" lang="tr" sz="1750">
                <a:solidFill>
                  <a:schemeClr val="lt1"/>
                </a:solidFill>
                <a:highlight>
                  <a:schemeClr val="dk1"/>
                </a:highlight>
                <a:latin typeface="Oswald"/>
                <a:ea typeface="Oswald"/>
                <a:cs typeface="Oswald"/>
                <a:sym typeface="Oswald"/>
              </a:rPr>
              <a:t>Hor Görme Garibi</a:t>
            </a:r>
            <a:r>
              <a:rPr lang="tr" sz="1750">
                <a:solidFill>
                  <a:schemeClr val="lt1"/>
                </a:solidFill>
                <a:highlight>
                  <a:schemeClr val="dk1"/>
                </a:highlight>
                <a:latin typeface="Oswald"/>
                <a:ea typeface="Oswald"/>
                <a:cs typeface="Oswald"/>
                <a:sym typeface="Oswald"/>
              </a:rPr>
              <a:t> (a cover of the major </a:t>
            </a:r>
            <a:r>
              <a:rPr lang="tr" sz="1750">
                <a:solidFill>
                  <a:schemeClr val="lt1"/>
                </a:solidFill>
                <a:highlight>
                  <a:schemeClr val="dk1"/>
                </a:highlight>
                <a:uFill>
                  <a:noFill/>
                </a:uFill>
                <a:latin typeface="Oswald"/>
                <a:ea typeface="Oswald"/>
                <a:cs typeface="Oswald"/>
                <a:sym typeface="Oswald"/>
                <a:hlinkClick r:id="rId4">
                  <a:extLst>
                    <a:ext uri="{A12FA001-AC4F-418D-AE19-62706E023703}">
                      <ahyp:hlinkClr val="tx"/>
                    </a:ext>
                  </a:extLst>
                </a:hlinkClick>
              </a:rPr>
              <a:t>Arabesque music</a:t>
            </a:r>
            <a:r>
              <a:rPr lang="tr" sz="1750">
                <a:solidFill>
                  <a:schemeClr val="lt1"/>
                </a:solidFill>
                <a:highlight>
                  <a:schemeClr val="dk1"/>
                </a:highlight>
                <a:latin typeface="Oswald"/>
                <a:ea typeface="Oswald"/>
                <a:cs typeface="Oswald"/>
                <a:sym typeface="Oswald"/>
              </a:rPr>
              <a:t> hit by </a:t>
            </a:r>
            <a:r>
              <a:rPr lang="tr" sz="1750">
                <a:solidFill>
                  <a:schemeClr val="lt1"/>
                </a:solidFill>
                <a:highlight>
                  <a:schemeClr val="dk1"/>
                </a:highlight>
                <a:uFill>
                  <a:noFill/>
                </a:uFill>
                <a:latin typeface="Oswald"/>
                <a:ea typeface="Oswald"/>
                <a:cs typeface="Oswald"/>
                <a:sym typeface="Oswald"/>
                <a:hlinkClick r:id="rId5">
                  <a:extLst>
                    <a:ext uri="{A12FA001-AC4F-418D-AE19-62706E023703}">
                      <ahyp:hlinkClr val="tx"/>
                    </a:ext>
                  </a:extLst>
                </a:hlinkClick>
              </a:rPr>
              <a:t>Orhan Gencebay</a:t>
            </a:r>
            <a:r>
              <a:rPr lang="tr" sz="1750">
                <a:solidFill>
                  <a:schemeClr val="lt1"/>
                </a:solidFill>
                <a:highlight>
                  <a:schemeClr val="dk1"/>
                </a:highlight>
                <a:latin typeface="Oswald"/>
                <a:ea typeface="Oswald"/>
                <a:cs typeface="Oswald"/>
                <a:sym typeface="Oswald"/>
              </a:rPr>
              <a:t>) was a smash hit, furthering Koray's career. 1974 also saw the release of his groundbreaking album, </a:t>
            </a:r>
            <a:r>
              <a:rPr lang="tr" sz="1750">
                <a:solidFill>
                  <a:schemeClr val="lt1"/>
                </a:solidFill>
                <a:highlight>
                  <a:schemeClr val="dk1"/>
                </a:highlight>
                <a:uFill>
                  <a:noFill/>
                </a:uFill>
                <a:latin typeface="Oswald"/>
                <a:ea typeface="Oswald"/>
                <a:cs typeface="Oswald"/>
                <a:sym typeface="Oswald"/>
                <a:hlinkClick r:id="rId6">
                  <a:extLst>
                    <a:ext uri="{A12FA001-AC4F-418D-AE19-62706E023703}">
                      <ahyp:hlinkClr val="tx"/>
                    </a:ext>
                  </a:extLst>
                </a:hlinkClick>
              </a:rPr>
              <a:t>Elektronik Türküler</a:t>
            </a:r>
            <a:r>
              <a:rPr lang="tr" sz="1750">
                <a:solidFill>
                  <a:schemeClr val="lt1"/>
                </a:solidFill>
                <a:highlight>
                  <a:schemeClr val="dk1"/>
                </a:highlight>
                <a:latin typeface="Oswald"/>
                <a:ea typeface="Oswald"/>
                <a:cs typeface="Oswald"/>
                <a:sym typeface="Oswald"/>
              </a:rPr>
              <a:t> ("Electronic Ballads"). It was a mixture of music coming from the ancient East and the modern West. The album is still thought to be a masterpiece by all music makers in Turkey: on it, Erkin sings and plays the guitars, </a:t>
            </a:r>
            <a:r>
              <a:rPr i="1" lang="tr" sz="1750">
                <a:solidFill>
                  <a:schemeClr val="lt1"/>
                </a:solidFill>
                <a:highlight>
                  <a:schemeClr val="dk1"/>
                </a:highlight>
                <a:latin typeface="Oswald"/>
                <a:ea typeface="Oswald"/>
                <a:cs typeface="Oswald"/>
                <a:sym typeface="Oswald"/>
              </a:rPr>
              <a:t>baglamas</a:t>
            </a:r>
            <a:r>
              <a:rPr lang="tr" sz="1750">
                <a:solidFill>
                  <a:schemeClr val="lt1"/>
                </a:solidFill>
                <a:highlight>
                  <a:schemeClr val="dk1"/>
                </a:highlight>
                <a:latin typeface="Oswald"/>
                <a:ea typeface="Oswald"/>
                <a:cs typeface="Oswald"/>
                <a:sym typeface="Oswald"/>
              </a:rPr>
              <a:t>, piano and organ. Beside him, Ahmet Guvenc on the bass, and Sedat Avci on the drums and percussions.</a:t>
            </a:r>
            <a:endParaRPr i="1">
              <a:solidFill>
                <a:schemeClr val="lt1"/>
              </a:solidFill>
              <a:highlight>
                <a:schemeClr val="dk1"/>
              </a:highlight>
              <a:latin typeface="Oswald"/>
              <a:ea typeface="Oswald"/>
              <a:cs typeface="Oswald"/>
              <a:sym typeface="Oswald"/>
            </a:endParaRPr>
          </a:p>
          <a:p>
            <a:pPr indent="0" lvl="0" marL="0" rtl="0" algn="l">
              <a:spcBef>
                <a:spcPts val="1200"/>
              </a:spcBef>
              <a:spcAft>
                <a:spcPts val="1200"/>
              </a:spcAft>
              <a:buNone/>
            </a:pPr>
            <a:r>
              <a:t/>
            </a:r>
            <a:endParaRPr sz="1750">
              <a:solidFill>
                <a:schemeClr val="lt1"/>
              </a:solidFill>
              <a:highlight>
                <a:schemeClr val="dk1"/>
              </a:highlight>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sz="1750">
                <a:solidFill>
                  <a:schemeClr val="lt1"/>
                </a:solidFill>
                <a:highlight>
                  <a:schemeClr val="dk1"/>
                </a:highlight>
                <a:latin typeface="Oswald"/>
                <a:ea typeface="Oswald"/>
                <a:cs typeface="Oswald"/>
                <a:sym typeface="Oswald"/>
              </a:rPr>
              <a:t>In the ‘70s he produced two other milestones: </a:t>
            </a:r>
            <a:r>
              <a:rPr i="1" lang="tr" sz="1750">
                <a:solidFill>
                  <a:schemeClr val="lt1"/>
                </a:solidFill>
                <a:highlight>
                  <a:schemeClr val="dk1"/>
                </a:highlight>
                <a:latin typeface="Oswald"/>
                <a:ea typeface="Oswald"/>
                <a:cs typeface="Oswald"/>
                <a:sym typeface="Oswald"/>
              </a:rPr>
              <a:t>Erkin Koray 2</a:t>
            </a:r>
            <a:r>
              <a:rPr lang="tr" sz="1750">
                <a:solidFill>
                  <a:schemeClr val="lt1"/>
                </a:solidFill>
                <a:highlight>
                  <a:schemeClr val="dk1"/>
                </a:highlight>
                <a:latin typeface="Oswald"/>
                <a:ea typeface="Oswald"/>
                <a:cs typeface="Oswald"/>
                <a:sym typeface="Oswald"/>
              </a:rPr>
              <a:t> (1976) and </a:t>
            </a:r>
            <a:r>
              <a:rPr i="1" lang="tr" sz="1750">
                <a:solidFill>
                  <a:schemeClr val="lt1"/>
                </a:solidFill>
                <a:highlight>
                  <a:schemeClr val="dk1"/>
                </a:highlight>
                <a:latin typeface="Oswald"/>
                <a:ea typeface="Oswald"/>
                <a:cs typeface="Oswald"/>
                <a:sym typeface="Oswald"/>
              </a:rPr>
              <a:t>Erkin Koray</a:t>
            </a:r>
            <a:r>
              <a:rPr lang="tr" sz="1750">
                <a:solidFill>
                  <a:schemeClr val="lt1"/>
                </a:solidFill>
                <a:highlight>
                  <a:schemeClr val="dk1"/>
                </a:highlight>
                <a:latin typeface="Oswald"/>
                <a:ea typeface="Oswald"/>
                <a:cs typeface="Oswald"/>
                <a:sym typeface="Oswald"/>
              </a:rPr>
              <a:t> </a:t>
            </a:r>
            <a:r>
              <a:rPr i="1" lang="tr" sz="1750">
                <a:solidFill>
                  <a:schemeClr val="lt1"/>
                </a:solidFill>
                <a:highlight>
                  <a:schemeClr val="dk1"/>
                </a:highlight>
                <a:latin typeface="Oswald"/>
                <a:ea typeface="Oswald"/>
                <a:cs typeface="Oswald"/>
                <a:sym typeface="Oswald"/>
              </a:rPr>
              <a:t>Tutkusu </a:t>
            </a:r>
            <a:r>
              <a:rPr lang="tr" sz="1750">
                <a:solidFill>
                  <a:schemeClr val="lt1"/>
                </a:solidFill>
                <a:highlight>
                  <a:schemeClr val="dk1"/>
                </a:highlight>
                <a:latin typeface="Oswald"/>
                <a:ea typeface="Oswald"/>
                <a:cs typeface="Oswald"/>
                <a:sym typeface="Oswald"/>
              </a:rPr>
              <a:t>(1977). The first, reissued in 2005 with 5 bonus tracks, gives a lot of space to ethnic sound: it contains gems such as </a:t>
            </a:r>
            <a:r>
              <a:rPr i="1" lang="tr" sz="1750">
                <a:solidFill>
                  <a:schemeClr val="lt1"/>
                </a:solidFill>
                <a:highlight>
                  <a:schemeClr val="dk1"/>
                </a:highlight>
                <a:latin typeface="Oswald"/>
                <a:ea typeface="Oswald"/>
                <a:cs typeface="Oswald"/>
                <a:sym typeface="Oswald"/>
              </a:rPr>
              <a:t>Fesuphanallah</a:t>
            </a:r>
            <a:r>
              <a:rPr lang="tr" sz="1750">
                <a:solidFill>
                  <a:schemeClr val="lt1"/>
                </a:solidFill>
                <a:highlight>
                  <a:schemeClr val="dk1"/>
                </a:highlight>
                <a:latin typeface="Oswald"/>
                <a:ea typeface="Oswald"/>
                <a:cs typeface="Oswald"/>
                <a:sym typeface="Oswald"/>
              </a:rPr>
              <a:t>, </a:t>
            </a:r>
            <a:r>
              <a:rPr i="1" lang="tr" sz="1750">
                <a:solidFill>
                  <a:schemeClr val="lt1"/>
                </a:solidFill>
                <a:highlight>
                  <a:schemeClr val="dk1"/>
                </a:highlight>
                <a:latin typeface="Oswald"/>
                <a:ea typeface="Oswald"/>
                <a:cs typeface="Oswald"/>
                <a:sym typeface="Oswald"/>
              </a:rPr>
              <a:t>Estarabim </a:t>
            </a:r>
            <a:r>
              <a:rPr lang="tr" sz="1750">
                <a:solidFill>
                  <a:schemeClr val="lt1"/>
                </a:solidFill>
                <a:highlight>
                  <a:schemeClr val="dk1"/>
                </a:highlight>
                <a:latin typeface="Oswald"/>
                <a:ea typeface="Oswald"/>
                <a:cs typeface="Oswald"/>
                <a:sym typeface="Oswald"/>
              </a:rPr>
              <a:t>and </a:t>
            </a:r>
            <a:r>
              <a:rPr i="1" lang="tr" sz="1750">
                <a:solidFill>
                  <a:schemeClr val="lt1"/>
                </a:solidFill>
                <a:highlight>
                  <a:schemeClr val="dk1"/>
                </a:highlight>
                <a:latin typeface="Oswald"/>
                <a:ea typeface="Oswald"/>
                <a:cs typeface="Oswald"/>
                <a:sym typeface="Oswald"/>
              </a:rPr>
              <a:t>Sevince</a:t>
            </a:r>
            <a:r>
              <a:rPr lang="tr" sz="1750">
                <a:solidFill>
                  <a:schemeClr val="lt1"/>
                </a:solidFill>
                <a:highlight>
                  <a:schemeClr val="dk1"/>
                </a:highlight>
                <a:latin typeface="Oswald"/>
                <a:ea typeface="Oswald"/>
                <a:cs typeface="Oswald"/>
                <a:sym typeface="Oswald"/>
              </a:rPr>
              <a:t>. Other major hits by Koray are </a:t>
            </a:r>
            <a:r>
              <a:rPr i="1" lang="tr" sz="1750">
                <a:solidFill>
                  <a:schemeClr val="lt1"/>
                </a:solidFill>
                <a:highlight>
                  <a:schemeClr val="dk1"/>
                </a:highlight>
                <a:latin typeface="Oswald"/>
                <a:ea typeface="Oswald"/>
                <a:cs typeface="Oswald"/>
                <a:sym typeface="Oswald"/>
              </a:rPr>
              <a:t>Fesuphanallah</a:t>
            </a:r>
            <a:r>
              <a:rPr lang="tr" sz="1750">
                <a:solidFill>
                  <a:schemeClr val="lt1"/>
                </a:solidFill>
                <a:highlight>
                  <a:schemeClr val="dk1"/>
                </a:highlight>
                <a:latin typeface="Oswald"/>
                <a:ea typeface="Oswald"/>
                <a:cs typeface="Oswald"/>
                <a:sym typeface="Oswald"/>
              </a:rPr>
              <a:t>, </a:t>
            </a:r>
            <a:r>
              <a:rPr i="1" lang="tr" sz="1750">
                <a:solidFill>
                  <a:schemeClr val="lt1"/>
                </a:solidFill>
                <a:highlight>
                  <a:schemeClr val="dk1"/>
                </a:highlight>
                <a:latin typeface="Oswald"/>
                <a:ea typeface="Oswald"/>
                <a:cs typeface="Oswald"/>
                <a:sym typeface="Oswald"/>
              </a:rPr>
              <a:t>Istemem</a:t>
            </a:r>
            <a:r>
              <a:rPr lang="tr" sz="1750">
                <a:solidFill>
                  <a:schemeClr val="lt1"/>
                </a:solidFill>
                <a:highlight>
                  <a:schemeClr val="dk1"/>
                </a:highlight>
                <a:latin typeface="Oswald"/>
                <a:ea typeface="Oswald"/>
                <a:cs typeface="Oswald"/>
                <a:sym typeface="Oswald"/>
              </a:rPr>
              <a:t>, </a:t>
            </a:r>
            <a:r>
              <a:rPr i="1" lang="tr" sz="1750">
                <a:solidFill>
                  <a:schemeClr val="lt1"/>
                </a:solidFill>
                <a:highlight>
                  <a:schemeClr val="dk1"/>
                </a:highlight>
                <a:latin typeface="Oswald"/>
                <a:ea typeface="Oswald"/>
                <a:cs typeface="Oswald"/>
                <a:sym typeface="Oswald"/>
              </a:rPr>
              <a:t>Sevince</a:t>
            </a:r>
            <a:r>
              <a:rPr lang="tr" sz="1750">
                <a:solidFill>
                  <a:schemeClr val="lt1"/>
                </a:solidFill>
                <a:highlight>
                  <a:schemeClr val="dk1"/>
                </a:highlight>
                <a:latin typeface="Oswald"/>
                <a:ea typeface="Oswald"/>
                <a:cs typeface="Oswald"/>
                <a:sym typeface="Oswald"/>
              </a:rPr>
              <a:t>, </a:t>
            </a:r>
            <a:r>
              <a:rPr i="1" lang="tr" sz="1750">
                <a:solidFill>
                  <a:schemeClr val="lt1"/>
                </a:solidFill>
                <a:highlight>
                  <a:schemeClr val="dk1"/>
                </a:highlight>
                <a:latin typeface="Oswald"/>
                <a:ea typeface="Oswald"/>
                <a:cs typeface="Oswald"/>
                <a:sym typeface="Oswald"/>
              </a:rPr>
              <a:t>Öyle Bir Geçer Zaman ki </a:t>
            </a:r>
            <a:r>
              <a:rPr lang="tr" sz="1750">
                <a:solidFill>
                  <a:schemeClr val="lt1"/>
                </a:solidFill>
                <a:highlight>
                  <a:schemeClr val="dk1"/>
                </a:highlight>
                <a:latin typeface="Oswald"/>
                <a:ea typeface="Oswald"/>
                <a:cs typeface="Oswald"/>
                <a:sym typeface="Oswald"/>
              </a:rPr>
              <a:t>, </a:t>
            </a:r>
            <a:r>
              <a:rPr i="1" lang="tr" sz="1750">
                <a:solidFill>
                  <a:schemeClr val="lt1"/>
                </a:solidFill>
                <a:highlight>
                  <a:schemeClr val="dk1"/>
                </a:highlight>
                <a:latin typeface="Oswald"/>
                <a:ea typeface="Oswald"/>
                <a:cs typeface="Oswald"/>
                <a:sym typeface="Oswald"/>
              </a:rPr>
              <a:t>Estarabim</a:t>
            </a:r>
            <a:r>
              <a:rPr lang="tr" sz="1750">
                <a:solidFill>
                  <a:schemeClr val="lt1"/>
                </a:solidFill>
                <a:highlight>
                  <a:schemeClr val="dk1"/>
                </a:highlight>
                <a:latin typeface="Oswald"/>
                <a:ea typeface="Oswald"/>
                <a:cs typeface="Oswald"/>
                <a:sym typeface="Oswald"/>
              </a:rPr>
              <a:t>, </a:t>
            </a:r>
            <a:r>
              <a:rPr i="1" lang="tr" sz="1750">
                <a:solidFill>
                  <a:schemeClr val="lt1"/>
                </a:solidFill>
                <a:highlight>
                  <a:schemeClr val="dk1"/>
                </a:highlight>
                <a:latin typeface="Oswald"/>
                <a:ea typeface="Oswald"/>
                <a:cs typeface="Oswald"/>
                <a:sym typeface="Oswald"/>
              </a:rPr>
              <a:t>Arap Saçı</a:t>
            </a:r>
            <a:r>
              <a:rPr lang="tr" sz="1750">
                <a:solidFill>
                  <a:schemeClr val="lt1"/>
                </a:solidFill>
                <a:highlight>
                  <a:schemeClr val="dk1"/>
                </a:highlight>
                <a:latin typeface="Oswald"/>
                <a:ea typeface="Oswald"/>
                <a:cs typeface="Oswald"/>
                <a:sym typeface="Oswald"/>
              </a:rPr>
              <a:t>, </a:t>
            </a:r>
            <a:r>
              <a:rPr i="1" lang="tr" sz="1750">
                <a:solidFill>
                  <a:schemeClr val="lt1"/>
                </a:solidFill>
                <a:highlight>
                  <a:schemeClr val="dk1"/>
                </a:highlight>
                <a:latin typeface="Oswald"/>
                <a:ea typeface="Oswald"/>
                <a:cs typeface="Oswald"/>
                <a:sym typeface="Oswald"/>
              </a:rPr>
              <a:t>Yalnızlar Rıhtımı</a:t>
            </a:r>
            <a:r>
              <a:rPr lang="tr" sz="1750">
                <a:solidFill>
                  <a:schemeClr val="lt1"/>
                </a:solidFill>
                <a:highlight>
                  <a:schemeClr val="dk1"/>
                </a:highlight>
                <a:latin typeface="Oswald"/>
                <a:ea typeface="Oswald"/>
                <a:cs typeface="Oswald"/>
                <a:sym typeface="Oswald"/>
              </a:rPr>
              <a:t>, </a:t>
            </a:r>
            <a:r>
              <a:rPr i="1" lang="tr" sz="1750">
                <a:solidFill>
                  <a:schemeClr val="lt1"/>
                </a:solidFill>
                <a:highlight>
                  <a:schemeClr val="dk1"/>
                </a:highlight>
                <a:latin typeface="Oswald"/>
                <a:ea typeface="Oswald"/>
                <a:cs typeface="Oswald"/>
                <a:sym typeface="Oswald"/>
              </a:rPr>
              <a:t>Akrebin Gözleri</a:t>
            </a:r>
            <a:r>
              <a:rPr lang="tr" sz="1750">
                <a:solidFill>
                  <a:schemeClr val="lt1"/>
                </a:solidFill>
                <a:highlight>
                  <a:schemeClr val="dk1"/>
                </a:highlight>
                <a:latin typeface="Oswald"/>
                <a:ea typeface="Oswald"/>
                <a:cs typeface="Oswald"/>
                <a:sym typeface="Oswald"/>
              </a:rPr>
              <a:t> and </a:t>
            </a:r>
            <a:r>
              <a:rPr i="1" lang="tr" sz="1750">
                <a:solidFill>
                  <a:schemeClr val="lt1"/>
                </a:solidFill>
                <a:highlight>
                  <a:schemeClr val="dk1"/>
                </a:highlight>
                <a:latin typeface="Oswald"/>
                <a:ea typeface="Oswald"/>
                <a:cs typeface="Oswald"/>
                <a:sym typeface="Oswald"/>
              </a:rPr>
              <a:t>Çöpçüler</a:t>
            </a:r>
            <a:r>
              <a:rPr lang="tr" sz="1750">
                <a:solidFill>
                  <a:schemeClr val="lt1"/>
                </a:solidFill>
                <a:highlight>
                  <a:schemeClr val="dk1"/>
                </a:highlight>
                <a:latin typeface="Oswald"/>
                <a:ea typeface="Oswald"/>
                <a:cs typeface="Oswald"/>
                <a:sym typeface="Oswald"/>
              </a:rPr>
              <a:t>. In the late 1990s and early 2000s, a flowering of interest in </a:t>
            </a:r>
            <a:r>
              <a:rPr lang="tr" sz="1750">
                <a:solidFill>
                  <a:schemeClr val="lt1"/>
                </a:solidFill>
                <a:highlight>
                  <a:schemeClr val="dk1"/>
                </a:highlight>
                <a:uFill>
                  <a:noFill/>
                </a:uFill>
                <a:latin typeface="Oswald"/>
                <a:ea typeface="Oswald"/>
                <a:cs typeface="Oswald"/>
                <a:sym typeface="Oswald"/>
                <a:hlinkClick r:id="rId3">
                  <a:extLst>
                    <a:ext uri="{A12FA001-AC4F-418D-AE19-62706E023703}">
                      <ahyp:hlinkClr val="tx"/>
                    </a:ext>
                  </a:extLst>
                </a:hlinkClick>
              </a:rPr>
              <a:t>psychedelic music</a:t>
            </a:r>
            <a:r>
              <a:rPr lang="tr" sz="1750">
                <a:solidFill>
                  <a:schemeClr val="lt1"/>
                </a:solidFill>
                <a:highlight>
                  <a:schemeClr val="dk1"/>
                </a:highlight>
                <a:latin typeface="Oswald"/>
                <a:ea typeface="Oswald"/>
                <a:cs typeface="Oswald"/>
                <a:sym typeface="Oswald"/>
              </a:rPr>
              <a:t> made outside of the UK and the US brought Koray to the attention of listeners in the West. Koray is also the inventor of the electric </a:t>
            </a:r>
            <a:r>
              <a:rPr lang="tr" sz="1750">
                <a:solidFill>
                  <a:schemeClr val="lt1"/>
                </a:solidFill>
                <a:highlight>
                  <a:schemeClr val="dk1"/>
                </a:highlight>
                <a:uFill>
                  <a:noFill/>
                </a:uFill>
                <a:latin typeface="Oswald"/>
                <a:ea typeface="Oswald"/>
                <a:cs typeface="Oswald"/>
                <a:sym typeface="Oswald"/>
                <a:hlinkClick r:id="rId4">
                  <a:extLst>
                    <a:ext uri="{A12FA001-AC4F-418D-AE19-62706E023703}">
                      <ahyp:hlinkClr val="tx"/>
                    </a:ext>
                  </a:extLst>
                </a:hlinkClick>
              </a:rPr>
              <a:t>baglama</a:t>
            </a:r>
            <a:r>
              <a:rPr lang="tr" sz="1750">
                <a:solidFill>
                  <a:schemeClr val="lt1"/>
                </a:solidFill>
                <a:highlight>
                  <a:schemeClr val="dk1"/>
                </a:highlight>
                <a:latin typeface="Oswald"/>
                <a:ea typeface="Oswald"/>
                <a:cs typeface="Oswald"/>
                <a:sym typeface="Oswald"/>
              </a:rPr>
              <a:t>,</a:t>
            </a:r>
            <a:r>
              <a:rPr baseline="30000" lang="tr" sz="2100">
                <a:solidFill>
                  <a:schemeClr val="lt1"/>
                </a:solidFill>
                <a:highlight>
                  <a:schemeClr val="dk1"/>
                </a:highlight>
                <a:latin typeface="Oswald"/>
                <a:ea typeface="Oswald"/>
                <a:cs typeface="Oswald"/>
                <a:sym typeface="Oswald"/>
              </a:rPr>
              <a:t> </a:t>
            </a:r>
            <a:r>
              <a:rPr lang="tr" sz="1750">
                <a:solidFill>
                  <a:schemeClr val="lt1"/>
                </a:solidFill>
                <a:highlight>
                  <a:schemeClr val="dk1"/>
                </a:highlight>
                <a:latin typeface="Oswald"/>
                <a:ea typeface="Oswald"/>
                <a:cs typeface="Oswald"/>
                <a:sym typeface="Oswald"/>
              </a:rPr>
              <a:t>a traditional Turkish musical instrument related to the lute, and its unique sound can be heard on many of his albums.</a:t>
            </a:r>
            <a:endParaRPr sz="3600">
              <a:solidFill>
                <a:schemeClr val="lt1"/>
              </a:solidFill>
              <a:highlight>
                <a:schemeClr val="dk1"/>
              </a:highlight>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1" name="Google Shape;81;p17"/>
          <p:cNvPicPr preferRelativeResize="0"/>
          <p:nvPr/>
        </p:nvPicPr>
        <p:blipFill>
          <a:blip r:embed="rId3">
            <a:alphaModFix/>
          </a:blip>
          <a:stretch>
            <a:fillRect/>
          </a:stretch>
        </p:blipFill>
        <p:spPr>
          <a:xfrm>
            <a:off x="1381163" y="462187"/>
            <a:ext cx="6381676" cy="4219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8" name="Google Shape;88;p18"/>
          <p:cNvPicPr preferRelativeResize="0"/>
          <p:nvPr/>
        </p:nvPicPr>
        <p:blipFill>
          <a:blip r:embed="rId3">
            <a:alphaModFix/>
          </a:blip>
          <a:stretch>
            <a:fillRect/>
          </a:stretch>
        </p:blipFill>
        <p:spPr>
          <a:xfrm>
            <a:off x="1396188" y="401613"/>
            <a:ext cx="6351622" cy="4340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